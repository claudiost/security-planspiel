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emf" ContentType="image/x-emf"/>
  <Override PartName="/customXml/itemProps1.xml" ContentType="application/vnd.openxmlformats-officedocument.customXmlProperties+xml"/>
  <Override PartName="/ppt/slideLayouts/slideLayout8.xml" ContentType="application/vnd.openxmlformats-officedocument.presentationml.slideLayout+xml"/>
  <Override PartName="/customXml/itemProps2.xml" ContentType="application/vnd.openxmlformats-officedocument.customXmlProperties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9.xml" ContentType="application/vnd.openxmlformats-officedocument.presentationml.slideLayout+xml"/>
  <Override PartName="/customXml/itemProps3.xml" ContentType="application/vnd.openxmlformats-officedocument.customXmlProperties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37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Layouts/slideLayout28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23.xml" ContentType="application/vnd.openxmlformats-officedocument.presentationml.notesSlide+xml"/>
  <Override PartName="/ppt/slideLayouts/slideLayout45.xml" ContentType="application/vnd.openxmlformats-officedocument.presentationml.slideLayout+xml"/>
  <Override PartName="/ppt/slides/slide23.xml" ContentType="application/vnd.openxmlformats-officedocument.presentationml.slide+xml"/>
  <Override PartName="/ppt/slideLayouts/slideLayout18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29.xml" ContentType="application/vnd.openxmlformats-officedocument.presentationml.slide+xml"/>
  <Override PartName="/ppt/slideLayouts/slideLayout12.xml" ContentType="application/vnd.openxmlformats-officedocument.presentationml.slideLayout+xml"/>
  <Override PartName="/ppt/slides/slide28.xml" ContentType="application/vnd.openxmlformats-officedocument.presentationml.slide+xml"/>
  <Override PartName="/ppt/slideLayouts/slideLayout13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22.xml" ContentType="application/vnd.openxmlformats-officedocument.presentationml.notesSlide+xml"/>
  <Override PartName="/ppt/slideLayouts/slideLayout44.xml" ContentType="application/vnd.openxmlformats-officedocument.presentationml.slideLayout+xml"/>
  <Override PartName="/ppt/slides/slide22.xml" ContentType="application/vnd.openxmlformats-officedocument.presentationml.slid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notesSlides/notesSlide9.xml" ContentType="application/vnd.openxmlformats-officedocument.presentationml.notesSlide+xml"/>
  <Override PartName="/ppt/slideLayouts/slideLayout3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3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Layouts/slideLayout39.xml" ContentType="application/vnd.openxmlformats-officedocument.presentationml.slideLayout+xml"/>
  <Override PartName="/ppt/notesSlides/notesSlide26.xml" ContentType="application/vnd.openxmlformats-officedocument.presentationml.notesSlide+xml"/>
  <Override PartName="/ppt/slideLayouts/slideLayout40.xml" ContentType="application/vnd.openxmlformats-officedocument.presentationml.slideLayout+xml"/>
  <Override PartName="/ppt/notesSlides/notesSlide27.xml" ContentType="application/vnd.openxmlformats-officedocument.presentationml.notesSlide+xml"/>
  <Override PartName="/ppt/slideLayouts/slideLayout41.xml" ContentType="application/vnd.openxmlformats-officedocument.presentationml.slideLayout+xml"/>
  <Override PartName="/ppt/notesSlides/notesSlide24.xml" ContentType="application/vnd.openxmlformats-officedocument.presentationml.notesSlide+xml"/>
  <Override PartName="/ppt/slideLayouts/slideLayout42.xml" ContentType="application/vnd.openxmlformats-officedocument.presentationml.slideLayout+xml"/>
  <Override PartName="/ppt/notesSlides/notesSlide25.xml" ContentType="application/vnd.openxmlformats-officedocument.presentationml.notesSlide+xml"/>
  <Override PartName="/ppt/slideLayouts/slideLayout43.xml" ContentType="application/vnd.openxmlformats-officedocument.presentationml.slideLayout+xml"/>
  <Override PartName="/ppt/notesSlides/notesSlide20.xml" ContentType="application/vnd.openxmlformats-officedocument.presentationml.notesSlide+xml"/>
  <Override PartName="/ppt/slideLayouts/slideLayout46.xml" ContentType="application/vnd.openxmlformats-officedocument.presentationml.slideLayout+xml"/>
  <Override PartName="/ppt/notesSlides/notesSlide21.xml" ContentType="application/vnd.openxmlformats-officedocument.presentationml.notesSlide+xml"/>
  <Override PartName="/ppt/slideLayouts/slideLayout47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4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custDataLst>
    <p:custData r:id="rId1"/>
    <p:custData r:id="rId2"/>
    <p:custData r:id="rId3"/>
  </p:custDataLst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0" d="100"/>
          <a:sy n="150" d="100"/>
        </p:scale>
        <p:origin x="1212" y="13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6" Type="http://schemas.openxmlformats.org/officeDocument/2006/relationships/theme" Target="theme/theme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 /><Relationship Id="rId39" Type="http://schemas.openxmlformats.org/officeDocument/2006/relationships/tableStyles" Target="tableStyles.xml" /><Relationship Id="rId4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720432" name="Kopfzeilenplatzhalt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57110868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9BAC601-79EC-4230-922D-8A80BCD7E733}" type="datetimeFigureOut">
              <a:rPr lang="en-CA"/>
              <a:t>2026-01-26</a:t>
            </a:fld>
            <a:endParaRPr lang="en-CA"/>
          </a:p>
        </p:txBody>
      </p:sp>
      <p:sp>
        <p:nvSpPr>
          <p:cNvPr id="1331247549" name="Folienbildplatzhalt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CA"/>
          </a:p>
        </p:txBody>
      </p:sp>
      <p:sp>
        <p:nvSpPr>
          <p:cNvPr id="1601075342" name="Notizen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CA"/>
          </a:p>
        </p:txBody>
      </p:sp>
      <p:sp>
        <p:nvSpPr>
          <p:cNvPr id="1906009553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962399794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446FB33-408D-4E42-9983-6C93B3CEFE46}" type="slidenum">
              <a:rPr lang="en-CA"/>
              <a:t>‹Nr.›</a:t>
            </a:fld>
            <a:endParaRPr lang="en-C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7769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17819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4369983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</a:t>
            </a:fld>
            <a:endParaRPr lang="en-C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1790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3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15663998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</a:t>
            </a:fld>
            <a:endParaRPr lang="en-CA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7510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5092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33263126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3</a:t>
            </a:fld>
            <a:endParaRPr lang="en-CA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3364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4428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7154149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4</a:t>
            </a:fld>
            <a:endParaRPr lang="en-CA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234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70536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313797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5</a:t>
            </a:fld>
            <a:endParaRPr lang="en-CA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682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7811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08875375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6</a:t>
            </a:fld>
            <a:endParaRPr lang="en-CA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981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0144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46574104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7</a:t>
            </a:fld>
            <a:endParaRPr lang="en-CA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4866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068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38222278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8</a:t>
            </a:fld>
            <a:endParaRPr lang="en-CA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5101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9075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66201885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9</a:t>
            </a:fld>
            <a:endParaRPr lang="en-CA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162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18864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1731124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10</a:t>
            </a:fld>
            <a:endParaRPr lang="en-CA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9283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6530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7102912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11</a:t>
            </a:fld>
            <a:endParaRPr lang="en-CA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7006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1571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272960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12</a:t>
            </a:fld>
            <a:endParaRPr lang="en-CA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813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81627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90950152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13</a:t>
            </a:fld>
            <a:endParaRPr lang="en-CA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4157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9663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2190862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14</a:t>
            </a:fld>
            <a:endParaRPr lang="en-CA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0315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6189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14787251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15</a:t>
            </a:fld>
            <a:endParaRPr lang="en-CA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1756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901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3425946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16</a:t>
            </a:fld>
            <a:endParaRPr lang="en-CA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62371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7725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52611372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17</a:t>
            </a:fld>
            <a:endParaRPr lang="en-CA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82086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5564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5707508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18</a:t>
            </a:fld>
            <a:endParaRPr lang="en-CA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1340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0352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63147726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19</a:t>
            </a:fld>
            <a:endParaRPr lang="en-CA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327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79835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6091306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20</a:t>
            </a:fld>
            <a:endParaRPr lang="en-CA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29086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1049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70554289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21</a:t>
            </a:fld>
            <a:endParaRPr lang="en-CA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17860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89449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08645661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22</a:t>
            </a:fld>
            <a:endParaRPr lang="en-CA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7392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9528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4420289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23</a:t>
            </a:fld>
            <a:endParaRPr lang="en-CA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413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20812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5875838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24</a:t>
            </a:fld>
            <a:endParaRPr lang="en-CA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424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05566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893655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25</a:t>
            </a:fld>
            <a:endParaRPr lang="en-CA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9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9880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61046487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26</a:t>
            </a:fld>
            <a:endParaRPr lang="en-CA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2987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2743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622018089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27</a:t>
            </a:fld>
            <a:endParaRPr lang="en-CA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4250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1797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63949812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28</a:t>
            </a:fld>
            <a:endParaRPr lang="en-CA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8626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19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4984098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29</a:t>
            </a:fld>
            <a:endParaRPr lang="en-CA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5379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0259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0648912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30</a:t>
            </a:fld>
            <a:endParaRPr lang="en-CA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oleObject" Target="../embeddings/oleObject2.bin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oleObject" Target="../embeddings/oleObject3.bin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Simpl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5796780" name="Rechteck 43"/>
          <p:cNvSpPr/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613471519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1062114119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grpSp>
        <p:nvGrpSpPr>
          <p:cNvPr id="292034390" name="Gruppieren 14"/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42581431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Client Logo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79101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1690958955" name="Gruppieren 14"/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64978054" name="Text Placeholder 35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3570471" y="1484313"/>
            <a:ext cx="1943100" cy="6984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en-CA"/>
              <a:t>Dedicated placeholder for client logo</a:t>
            </a:r>
            <a:endParaRPr/>
          </a:p>
        </p:txBody>
      </p:sp>
      <p:sp>
        <p:nvSpPr>
          <p:cNvPr id="983692951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1933579298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sp>
        <p:nvSpPr>
          <p:cNvPr id="867925034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2 line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432509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63148174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34390710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425076364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26074118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317573102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66003221" name="Rechteck 6"/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90525259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56255966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503721912" name="Textplatzhalter 82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260756561" name="Textplatzhalter 82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965920992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007483075" name="Textplatzhalter 82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443134077" name="Textplatzhalter 82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4321451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67211371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116396088" name="Textplatzhalter 82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462739465" name="Textplatzhalter 82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428613710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1477475992" name="Textplatzhalter 82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862718251" name="Textplatzhalter 82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630564920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490394604" name="Textplatzhalter 82"/>
          <p:cNvSpPr>
            <a:spLocks noGrp="1"/>
          </p:cNvSpPr>
          <p:nvPr>
            <p:ph type="body" sz="quarter" idx="55" hasCustomPrompt="1"/>
          </p:nvPr>
        </p:nvSpPr>
        <p:spPr bwMode="auto"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5</a:t>
            </a:r>
            <a:endParaRPr lang="en-CA"/>
          </a:p>
        </p:txBody>
      </p:sp>
      <p:sp>
        <p:nvSpPr>
          <p:cNvPr id="831708587" name="Textplatzhalter 82"/>
          <p:cNvSpPr>
            <a:spLocks noGrp="1"/>
          </p:cNvSpPr>
          <p:nvPr>
            <p:ph type="body" sz="quarter" idx="56" hasCustomPrompt="1"/>
          </p:nvPr>
        </p:nvSpPr>
        <p:spPr bwMode="auto"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239787403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641254518" name="Textplatzhalter 82"/>
          <p:cNvSpPr>
            <a:spLocks noGrp="1"/>
          </p:cNvSpPr>
          <p:nvPr>
            <p:ph type="body" sz="quarter" idx="57" hasCustomPrompt="1"/>
          </p:nvPr>
        </p:nvSpPr>
        <p:spPr bwMode="auto"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6</a:t>
            </a:r>
            <a:endParaRPr lang="en-CA"/>
          </a:p>
        </p:txBody>
      </p:sp>
      <p:sp>
        <p:nvSpPr>
          <p:cNvPr id="1637774811" name="Textplatzhalter 82"/>
          <p:cNvSpPr>
            <a:spLocks noGrp="1"/>
          </p:cNvSpPr>
          <p:nvPr>
            <p:ph type="body" sz="quarter" idx="58" hasCustomPrompt="1"/>
          </p:nvPr>
        </p:nvSpPr>
        <p:spPr bwMode="auto">
          <a:xfrm>
            <a:off x="8544015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214588491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1600501273" name="Textplatzhalter 82"/>
          <p:cNvSpPr>
            <a:spLocks noGrp="1"/>
          </p:cNvSpPr>
          <p:nvPr>
            <p:ph type="body" sz="quarter" idx="59" hasCustomPrompt="1"/>
          </p:nvPr>
        </p:nvSpPr>
        <p:spPr bwMode="auto"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7</a:t>
            </a:r>
            <a:endParaRPr lang="en-CA"/>
          </a:p>
        </p:txBody>
      </p:sp>
      <p:sp>
        <p:nvSpPr>
          <p:cNvPr id="952895333" name="Textplatzhalter 82"/>
          <p:cNvSpPr>
            <a:spLocks noGrp="1"/>
          </p:cNvSpPr>
          <p:nvPr>
            <p:ph type="body" sz="quarter" idx="60" hasCustomPrompt="1"/>
          </p:nvPr>
        </p:nvSpPr>
        <p:spPr bwMode="auto"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755430650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1189480179" name="Textplatzhalter 82"/>
          <p:cNvSpPr>
            <a:spLocks noGrp="1"/>
          </p:cNvSpPr>
          <p:nvPr>
            <p:ph type="body" sz="quarter" idx="61" hasCustomPrompt="1"/>
          </p:nvPr>
        </p:nvSpPr>
        <p:spPr bwMode="auto"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8</a:t>
            </a:r>
            <a:endParaRPr lang="en-CA"/>
          </a:p>
        </p:txBody>
      </p:sp>
      <p:sp>
        <p:nvSpPr>
          <p:cNvPr id="664743280" name="Textplatzhalter 82"/>
          <p:cNvSpPr>
            <a:spLocks noGrp="1"/>
          </p:cNvSpPr>
          <p:nvPr>
            <p:ph type="body" sz="quarter" idx="62" hasCustomPrompt="1"/>
          </p:nvPr>
        </p:nvSpPr>
        <p:spPr bwMode="auto"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072562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853831470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26278306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950622792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193054654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43908474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210822964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331990174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853916017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089007278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682096856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92170597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527365146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015333847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852450646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656983922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1330816295" name="Textplatzhalter 82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792675069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753708119" name="Textplatzhalter 82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832074219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894307417" name="Textplatzhalter 82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919457081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092466641" name="Rechteck 6"/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101977392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2 lines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508086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43379375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253532936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1675598780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31894085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682344419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571174586" name="Textplatzhalter 8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726780015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608994544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64340963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3919795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619350551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40099559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339047121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058971812" name="Textplatzhalter 8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2020780968" name="Textplatzhalter 8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177711203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518784235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690081298" name="Textplatzhalter 8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8232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36440338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943721897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390354031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56171949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176659354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39079808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794435773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385781214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411932475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710955872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952963605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201909944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0475307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hapter &amp; image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916769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647208661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93865572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338201935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35560750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50293510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85874824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&amp; imag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2508599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200898110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69729289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2039991078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8285277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44055319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86780387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95658057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3268885" name="Gruppieren 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8" name="Freihandform: Form 7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1294448602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38657213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255491500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201245353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12425679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0677689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3727134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imag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412917" name="Rechteck 6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617981721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67599006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494891807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20934738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207261065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05415335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4164151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&amp; Content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67744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2110531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04345529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6087632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208662327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 &amp; Content blue">
    <p:bg bwMode="auto"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99575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7201248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09755111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1639996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14340149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75437392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3639190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23579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151222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98718527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28622682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8196897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4891762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1230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77311845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97320319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37723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03353142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582698956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767760916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85758710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84717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48303676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41734058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54210916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3246361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95488862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left blu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9204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975551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20088724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022609320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9851673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49836064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354477269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2746401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70942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6825437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514192810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35731878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9671916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53218216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89263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2012966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112272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33389961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4142544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2089867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504306136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99641638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8781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1547013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2330641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910519383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9171270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55828481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0349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0215004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89638792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72656506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6706680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95824540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73465872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26543615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66019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9835341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3582864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5123577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44921629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334686084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36594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5094361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67384440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65026736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6955759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77733218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401077990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29496163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28645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6250190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78911601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02332600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54669594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9958596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34586707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2155998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184209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36069777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30655436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2000415615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9352659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0463" y="1485415"/>
            <a:ext cx="554354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2448539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038825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2136494703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9923578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70970779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0451424" name="Rechteck 43"/>
          <p:cNvSpPr/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34142919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38289331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1496486475" name="Titel 46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9828508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From</a:t>
            </a:r>
            <a:endParaRPr/>
          </a:p>
        </p:txBody>
      </p:sp>
      <p:sp>
        <p:nvSpPr>
          <p:cNvPr id="1893961349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1747158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To</a:t>
            </a:r>
            <a:endParaRPr lang="en-CA"/>
          </a:p>
        </p:txBody>
      </p:sp>
      <p:sp>
        <p:nvSpPr>
          <p:cNvPr id="1416839725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53596295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Details</a:t>
            </a:r>
            <a:endParaRPr/>
          </a:p>
        </p:txBody>
      </p:sp>
      <p:sp>
        <p:nvSpPr>
          <p:cNvPr id="821035974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64029437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66385782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39037251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093299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7990245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3607235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5342250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7073501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2621770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95560496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5035130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49968741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blue/whit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40133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806211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5510180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4036611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96489033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959262681" name="Rechteck 5"/>
          <p:cNvSpPr/>
          <p:nvPr userDrawn="1"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22815922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16998596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208758404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vertic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387677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55849963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1740552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85257652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63144757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226318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105154063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423727488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48796646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horizont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158436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8231565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09732567" name="Rectangle 8"/>
          <p:cNvSpPr/>
          <p:nvPr userDrawn="1"/>
        </p:nvSpPr>
        <p:spPr bwMode="auto"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122749481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158758214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33533839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38067302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44226855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7353838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950775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575805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3905132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78562706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0526674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66802803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408999419" name="Inhaltsplatzhalter 3"/>
          <p:cNvSpPr>
            <a:spLocks noGrp="1"/>
          </p:cNvSpPr>
          <p:nvPr>
            <p:ph sz="half" idx="14" hasCustomPrompt="1"/>
          </p:nvPr>
        </p:nvSpPr>
        <p:spPr bwMode="auto"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1972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333248321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53666157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6599057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69389862" name="Inhaltsplatzhalter 2"/>
          <p:cNvSpPr>
            <a:spLocks noGrp="1"/>
          </p:cNvSpPr>
          <p:nvPr>
            <p:ph sz="half" idx="15" hasCustomPrompt="1"/>
          </p:nvPr>
        </p:nvSpPr>
        <p:spPr bwMode="auto"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84803625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740920401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62584350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565854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24447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5271755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30708268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33230437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14793590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20981785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9064717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96859513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03307029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3825125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0309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7512752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0097380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72798320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2287344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202112031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06675039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00349468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37957883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83088802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42238660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22353202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_partially blue_icon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226161969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1226161969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62452243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597861475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90748375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19567958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65270499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00587522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9467534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270696692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04553744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4362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966389303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92333415" name="Oval 20"/>
          <p:cNvSpPr/>
          <p:nvPr userDrawn="1"/>
        </p:nvSpPr>
        <p:spPr bwMode="auto"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89538498" name="Oval 21"/>
          <p:cNvSpPr/>
          <p:nvPr userDrawn="1"/>
        </p:nvSpPr>
        <p:spPr bwMode="auto"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041879595" name="Oval 23"/>
          <p:cNvSpPr/>
          <p:nvPr userDrawn="1"/>
        </p:nvSpPr>
        <p:spPr bwMode="auto"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17060459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82052836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95633802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_partially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247473657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247473657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6422497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7258396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15746140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55762039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96801763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3764427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84828110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75306315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53560838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142358117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55825762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89419094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813274870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70275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73500551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88913565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137071100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15759849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1629371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10772144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05999052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90409124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117760003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521810801" name="Date Placeholder 8"/>
          <p:cNvSpPr>
            <a:spLocks noGrp="1"/>
          </p:cNvSpPr>
          <p:nvPr>
            <p:ph type="dt" sz="half" idx="25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E70D4B-E00F-4E3D-9749-2A3BEC2D17A1}" type="datetime1">
              <a:rPr lang="de-DE"/>
              <a:t>26.01.2026</a:t>
            </a:fld>
            <a:endParaRPr lang="en-CA"/>
          </a:p>
        </p:txBody>
      </p:sp>
      <p:sp>
        <p:nvSpPr>
          <p:cNvPr id="830463403" name="Slide Number Placeholder 11"/>
          <p:cNvSpPr>
            <a:spLocks noGrp="1"/>
          </p:cNvSpPr>
          <p:nvPr>
            <p:ph type="sldNum" sz="quarter" idx="26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26662567" name="Textfeld 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image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845588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1703340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82003845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137770032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84189944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334244677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0631578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11035573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831458047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46510980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18404583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68657990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36940913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image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375041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41778630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26859739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1383863585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71872070" name="Textfeld 4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89847943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74586316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729009503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82082108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52771689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92608661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538430028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1091362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72724845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12544715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05954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11167420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0144933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29777926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37823117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53553916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14264380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2082318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588352303" name="Text Placeholder 3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533201753" name="Text Placeholder 32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00285071" name="Text Placeholder 3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48780093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60073420" name="Text Placeholder 3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350195628" name="Text Placeholder 3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619645770" name="Text Placeholder 3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264015796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49534835" name="Text Placeholder 3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99613050" name="Text Placeholder 32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064493475" name="Text Placeholder 3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255988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1935243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86231944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116101269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54655586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506756619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643310503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7463494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676839855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404341136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34464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55025048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5331829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86640821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41582836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8321826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53574428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214062236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710217841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3823786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21496931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682798591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6086150" name="Gruppieren 1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9" name="Freihandform: Form 8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1315312300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197442716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88262914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87592898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Enabling</a:t>
            </a:r>
            <a:r>
              <a:rPr lang="de-DE"/>
              <a:t> </a:t>
            </a:r>
            <a:r>
              <a:rPr lang="de-DE"/>
              <a:t>you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shape</a:t>
            </a:r>
            <a:r>
              <a:rPr lang="de-DE"/>
              <a:t> a </a:t>
            </a:r>
            <a:r>
              <a:rPr lang="de-DE"/>
              <a:t>better</a:t>
            </a:r>
            <a:r>
              <a:rPr lang="de-DE"/>
              <a:t> </a:t>
            </a:r>
            <a:r>
              <a:rPr lang="de-DE"/>
              <a:t>tomorrow</a:t>
            </a:r>
            <a:endParaRPr lang="en-CA"/>
          </a:p>
        </p:txBody>
      </p:sp>
      <p:sp>
        <p:nvSpPr>
          <p:cNvPr id="1526844721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869974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92792544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163716489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91615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68240706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We</a:t>
            </a:r>
            <a:r>
              <a:rPr lang="de-DE"/>
              <a:t> </a:t>
            </a:r>
            <a:r>
              <a:rPr lang="de-DE"/>
              <a:t>create</a:t>
            </a:r>
            <a:r>
              <a:rPr lang="de-DE"/>
              <a:t> digital </a:t>
            </a:r>
            <a:r>
              <a:rPr lang="de-DE"/>
              <a:t>futures</a:t>
            </a:r>
            <a:r>
              <a:rPr lang="de-DE"/>
              <a:t> </a:t>
            </a:r>
            <a:r>
              <a:rPr lang="de-DE"/>
              <a:t>with</a:t>
            </a:r>
            <a:r>
              <a:rPr lang="de-DE"/>
              <a:t> </a:t>
            </a:r>
            <a:r>
              <a:rPr lang="de-DE"/>
              <a:t>sustainable</a:t>
            </a:r>
            <a:r>
              <a:rPr lang="de-DE"/>
              <a:t> </a:t>
            </a:r>
            <a:r>
              <a:rPr lang="de-DE"/>
              <a:t>impact</a:t>
            </a:r>
            <a:r>
              <a:rPr lang="de-DE"/>
              <a:t> </a:t>
            </a:r>
            <a:r>
              <a:rPr lang="de-DE"/>
              <a:t>for</a:t>
            </a:r>
            <a:r>
              <a:rPr lang="de-DE"/>
              <a:t> </a:t>
            </a:r>
            <a:r>
              <a:rPr lang="de-DE"/>
              <a:t>the</a:t>
            </a:r>
            <a:r>
              <a:rPr lang="de-DE"/>
              <a:t> </a:t>
            </a:r>
            <a:r>
              <a:rPr lang="de-DE"/>
              <a:t>world</a:t>
            </a:r>
            <a:r>
              <a:rPr lang="de-DE"/>
              <a:t>.</a:t>
            </a:r>
            <a:endParaRPr lang="en-CA"/>
          </a:p>
        </p:txBody>
      </p:sp>
      <p:sp>
        <p:nvSpPr>
          <p:cNvPr id="1436827793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Mockup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33220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53761602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0639217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65813756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9125665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05389417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20247320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776311410" name="Text Placeholder 60"/>
          <p:cNvSpPr>
            <a:spLocks noGrp="1"/>
          </p:cNvSpPr>
          <p:nvPr>
            <p:ph type="body" sz="quarter" idx="32"/>
          </p:nvPr>
        </p:nvSpPr>
        <p:spPr bwMode="auto"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16700572" name="Picture Placeholder 68"/>
          <p:cNvSpPr>
            <a:spLocks noGrp="1"/>
          </p:cNvSpPr>
          <p:nvPr>
            <p:ph type="pic" sz="quarter" idx="34"/>
          </p:nvPr>
        </p:nvSpPr>
        <p:spPr bwMode="auto"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28992118" name="Textplatzhalter 52"/>
          <p:cNvSpPr>
            <a:spLocks noGrp="1"/>
          </p:cNvSpPr>
          <p:nvPr>
            <p:ph type="body" sz="quarter" idx="20"/>
          </p:nvPr>
        </p:nvSpPr>
        <p:spPr bwMode="auto"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1616213207" name="Text Placeholder 60"/>
          <p:cNvSpPr>
            <a:spLocks noGrp="1"/>
          </p:cNvSpPr>
          <p:nvPr>
            <p:ph type="body" sz="quarter" idx="38"/>
          </p:nvPr>
        </p:nvSpPr>
        <p:spPr bwMode="auto"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sp>
        <p:nvSpPr>
          <p:cNvPr id="560515350" name="Picture Placeholder 68"/>
          <p:cNvSpPr>
            <a:spLocks noGrp="1"/>
          </p:cNvSpPr>
          <p:nvPr>
            <p:ph type="pic" sz="quarter" idx="35"/>
          </p:nvPr>
        </p:nvSpPr>
        <p:spPr bwMode="auto"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673235575" name="Textplatzhalter 52"/>
          <p:cNvSpPr>
            <a:spLocks noGrp="1"/>
          </p:cNvSpPr>
          <p:nvPr>
            <p:ph type="body" sz="quarter" idx="28"/>
          </p:nvPr>
        </p:nvSpPr>
        <p:spPr bwMode="auto"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368658944" name="Text Placeholder 60"/>
          <p:cNvSpPr>
            <a:spLocks noGrp="1"/>
          </p:cNvSpPr>
          <p:nvPr>
            <p:ph type="body" sz="quarter" idx="39"/>
          </p:nvPr>
        </p:nvSpPr>
        <p:spPr bwMode="auto"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1208071173" name="Grafik 58"/>
          <p:cNvPicPr>
            <a:picLocks noChangeAspect="1"/>
          </p:cNvPicPr>
          <p:nvPr userDrawn="1"/>
        </p:nvPicPr>
        <p:blipFill rotWithShape="1">
          <a:blip r:embed="rId2"/>
          <a:srcRect l="9746" t="10016" r="9733" b="12093"/>
          <a:stretch/>
        </p:blipFill>
        <p:spPr bwMode="auto"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166328983" name="Grafik 58"/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 bwMode="auto"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544079357" name="Picture Placeholder 68"/>
          <p:cNvSpPr>
            <a:spLocks noGrp="1"/>
          </p:cNvSpPr>
          <p:nvPr>
            <p:ph type="pic" sz="quarter" idx="36"/>
          </p:nvPr>
        </p:nvSpPr>
        <p:spPr bwMode="auto"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48608624" name="Textplatzhalter 52"/>
          <p:cNvSpPr>
            <a:spLocks noGrp="1"/>
          </p:cNvSpPr>
          <p:nvPr>
            <p:ph type="body" sz="quarter" idx="37"/>
          </p:nvPr>
        </p:nvSpPr>
        <p:spPr bwMode="auto"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254809676" name="Text Placeholder 60"/>
          <p:cNvSpPr>
            <a:spLocks noGrp="1"/>
          </p:cNvSpPr>
          <p:nvPr>
            <p:ph type="body" sz="quarter" idx="40"/>
          </p:nvPr>
        </p:nvSpPr>
        <p:spPr bwMode="auto"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152837403" name="Grafik 58"/>
          <p:cNvPicPr>
            <a:picLocks noChangeAspect="1"/>
          </p:cNvPicPr>
          <p:nvPr userDrawn="1"/>
        </p:nvPicPr>
        <p:blipFill rotWithShape="1">
          <a:blip r:embed="rId2"/>
          <a:srcRect l="12811" t="9091" r="6230" b="13019"/>
          <a:stretch/>
        </p:blipFill>
        <p:spPr bwMode="auto">
          <a:xfrm>
            <a:off x="8584850" y="2050196"/>
            <a:ext cx="2764146" cy="301265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4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0696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0303394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715320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141137460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1805454413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42443644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8900162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10457255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85526205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6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2778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4717509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810364166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354625485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1830846899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7666275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73515124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29694375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23518267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22709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0685009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74873276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718272241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627552164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7493161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1829015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pic>
        <p:nvPicPr>
          <p:cNvPr id="1760373041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1946553709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6286603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631679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cxnSp>
        <p:nvCxnSpPr>
          <p:cNvPr id="1396193005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71180909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7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369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5795164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47518745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1277482748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827236091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25899136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13608758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681262690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1490989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54868694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cxnSp>
        <p:nvCxnSpPr>
          <p:cNvPr id="186606244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1364808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8420574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2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Rectangle 21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8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84918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47867963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68490313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634848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249173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22964833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346867599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627054348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</a:t>
            </a:r>
            <a:endParaRPr/>
          </a:p>
        </p:txBody>
      </p:sp>
      <p:pic>
        <p:nvPicPr>
          <p:cNvPr id="924773658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756033550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1670169671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</a:t>
            </a:r>
            <a:endParaRPr/>
          </a:p>
        </p:txBody>
      </p:sp>
      <p:grpSp>
        <p:nvGrpSpPr>
          <p:cNvPr id="983878909" name="Gruppieren 14"/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" name="Rectangle 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7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4369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353385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73983193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74442222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94273991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3905624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74473007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992956947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766202732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 </a:t>
            </a:r>
            <a:endParaRPr/>
          </a:p>
        </p:txBody>
      </p:sp>
      <p:pic>
        <p:nvPicPr>
          <p:cNvPr id="395980855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564771654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 </a:t>
            </a: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04923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5010273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69908855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029475031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78458087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2325973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39212422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810565725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9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086889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5974447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18173084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6622612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08206525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81561178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580475237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41724576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Rectangle 1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0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50030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6890712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03247442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905418475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29392827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21787559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61350467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328668719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67693362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12291635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Rectangle 17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Rectangle 18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5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77708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4429364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57843743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76117738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50614213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4765080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93361903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58036139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859017580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356668216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025044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535823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820449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62919394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41749936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997234861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3117894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810066206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31388271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897847747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pic>
        <p:nvPicPr>
          <p:cNvPr id="1435019020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687050243" name="Textplatzhalter 5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14341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576423700" name="Inhaltsplatzhalter 2"/>
          <p:cNvSpPr>
            <a:spLocks noGrp="1"/>
          </p:cNvSpPr>
          <p:nvPr>
            <p:ph idx="21" hasCustomPrompt="1"/>
          </p:nvPr>
        </p:nvSpPr>
        <p:spPr bwMode="auto"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emf"/><Relationship Id="rId58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88350873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58" imgW="0" imgH="0" progId="TCLayout.ActiveDocument.1">
              <p:embed/>
              <p:pic>
                <p:nvPicPr>
                  <p:cNvPr id="1088350873" name="think-cell data - do not delete" hidden="1"/>
                  <p:cNvPicPr/>
                  <p:nvPr/>
                </p:nvPicPr>
                <p:blipFill rotWithShape="1">
                  <a:blip r:embed="rId57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280748990" name="Titelplatzhalter 1"/>
          <p:cNvSpPr>
            <a:spLocks noGrp="1"/>
          </p:cNvSpPr>
          <p:nvPr>
            <p:ph type="title"/>
          </p:nvPr>
        </p:nvSpPr>
        <p:spPr bwMode="auto"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78174861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144184975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</p:sldLayoutIdLst>
  <p:hf dt="1" ftr="0" hdr="0" sldNum="1"/>
  <p:txStyles>
    <p:titleStyle>
      <a:lvl1pPr algn="l" defTabSz="914400" rtl="0">
        <a:lnSpc>
          <a:spcPct val="100000"/>
        </a:lnSpc>
        <a:spcBef>
          <a:spcPts val="0"/>
        </a:spcBef>
        <a:buNone/>
        <a:defRPr sz="2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77013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M1: IAM/PAM</a:t>
            </a:r>
            <a:endParaRPr/>
          </a:p>
        </p:txBody>
      </p:sp>
      <p:sp>
        <p:nvSpPr>
          <p:cNvPr id="22329711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Zugriffskontrolle, privilegierte Accounts</a:t>
            </a:r>
            <a:endParaRPr lang="en-US"/>
          </a:p>
        </p:txBody>
      </p:sp>
      <p:sp>
        <p:nvSpPr>
          <p:cNvPr id="77520956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Wer darf was im Unternehmen? Diese Maßnahme stellt sicher, dass nur berechtigte Personen Zugang zu sensiblen Systemen haben - wie ein digitaler Türsteher.</a:t>
            </a:r>
            <a:endParaRPr/>
          </a:p>
        </p:txBody>
      </p:sp>
      <p:sp>
        <p:nvSpPr>
          <p:cNvPr id="199182987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Zentrale Benutzerverwaltung, Admins brauchen zwei Faktoren zum Einloggen</a:t>
            </a:r>
            <a:endParaRPr lang="en-US" sz="2400"/>
          </a:p>
        </p:txBody>
      </p:sp>
      <p:sp>
        <p:nvSpPr>
          <p:cNvPr id="17494012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7569451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2282034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978932898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2025898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30k€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112010181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61713776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69877199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9764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M1: IAM/PAM</a:t>
            </a:r>
            <a:endParaRPr/>
          </a:p>
        </p:txBody>
      </p:sp>
      <p:sp>
        <p:nvSpPr>
          <p:cNvPr id="17088458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Zugriffskontrolle, privilegierte Accounts</a:t>
            </a:r>
            <a:endParaRPr lang="en-US"/>
          </a:p>
        </p:txBody>
      </p:sp>
      <p:sp>
        <p:nvSpPr>
          <p:cNvPr id="21130273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Wer darf was im Unternehmen? Diese Maßnahme stellt sicher, dass nur berechtigte Personen Zugang zu sensiblen Systemen haben - wie ein digitaler Türsteher.</a:t>
            </a:r>
            <a:endParaRPr/>
          </a:p>
        </p:txBody>
      </p:sp>
      <p:sp>
        <p:nvSpPr>
          <p:cNvPr id="1634598813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Spezielle Verwaltung für Admin-Konten, klare Rollen wer was darf.</a:t>
            </a:r>
            <a:endParaRPr lang="en-US" sz="2400"/>
          </a:p>
        </p:txBody>
      </p:sp>
      <p:sp>
        <p:nvSpPr>
          <p:cNvPr id="119062773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431687574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48759550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83961785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445879619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4106401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60k€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34134513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804728131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82738422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734785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M1: IAM/PAM</a:t>
            </a:r>
            <a:endParaRPr/>
          </a:p>
        </p:txBody>
      </p:sp>
      <p:sp>
        <p:nvSpPr>
          <p:cNvPr id="45459895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Zugriffskontrolle, privilegierte Accounts</a:t>
            </a:r>
            <a:endParaRPr lang="en-US"/>
          </a:p>
        </p:txBody>
      </p:sp>
      <p:sp>
        <p:nvSpPr>
          <p:cNvPr id="108616193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Wer darf was im Unternehmen? Diese Maßnahme stellt sicher, dass nur berechtigte Personen Zugang zu sensiblen Systemen haben - wie ein digitaler Türsteher.</a:t>
            </a:r>
            <a:endParaRPr/>
          </a:p>
        </p:txBody>
      </p:sp>
      <p:sp>
        <p:nvSpPr>
          <p:cNvPr id="200424385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Zugriff nur bei Bedarf, alle Admin-Aktionen werden aufgezeichnet.</a:t>
            </a:r>
            <a:endParaRPr lang="en-US" sz="2400"/>
          </a:p>
        </p:txBody>
      </p:sp>
      <p:sp>
        <p:nvSpPr>
          <p:cNvPr id="83471519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21515094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19751902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+6  |  </a:t>
            </a:r>
            <a:r>
              <a:rPr lang="de-DE" sz="2400" b="1"/>
              <a:t>I</a:t>
            </a:r>
            <a:r>
              <a:rPr lang="de-DE" sz="2400"/>
              <a:t> +5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272727985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026862834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9621013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100k€  |  </a:t>
            </a:r>
            <a:r>
              <a:rPr lang="de-DE" sz="2400" b="1"/>
              <a:t>OPEX</a:t>
            </a:r>
            <a:r>
              <a:rPr lang="de-DE" sz="2400"/>
              <a:t>: 20k€/Welle</a:t>
            </a:r>
            <a:endParaRPr/>
          </a:p>
        </p:txBody>
      </p:sp>
      <p:sp>
        <p:nvSpPr>
          <p:cNvPr id="1537141445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182122099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>
                <a:solidFill>
                  <a:srgbClr val="C00000"/>
                </a:solidFill>
              </a:rPr>
              <a:t>M2 min. L2</a:t>
            </a:r>
            <a:endParaRPr/>
          </a:p>
        </p:txBody>
      </p:sp>
      <p:sp>
        <p:nvSpPr>
          <p:cNvPr id="2084406249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045031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M2: </a:t>
            </a:r>
            <a:r>
              <a:rPr lang="de-DE" sz="4000"/>
              <a:t>Logging</a:t>
            </a:r>
            <a:r>
              <a:rPr lang="de-DE" sz="4000"/>
              <a:t> &amp; SIEM/MDR</a:t>
            </a:r>
            <a:endParaRPr lang="en-US" sz="4000"/>
          </a:p>
        </p:txBody>
      </p:sp>
      <p:sp>
        <p:nvSpPr>
          <p:cNvPr id="63757527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Sichtbarkeit schaffen, Angriffe erkennen</a:t>
            </a:r>
            <a:endParaRPr lang="en-US"/>
          </a:p>
        </p:txBody>
      </p:sp>
      <p:sp>
        <p:nvSpPr>
          <p:cNvPr id="168606917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Wie ein Überwachungssystem für die IT: Alle wichtigen Ereignisse werden protokolliert und ausgewertet, um verdächtige Aktivitäten frühzeitig zu erkennen.</a:t>
            </a:r>
            <a:endParaRPr/>
          </a:p>
        </p:txBody>
      </p:sp>
      <p:sp>
        <p:nvSpPr>
          <p:cNvPr id="576578404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Protokolle werden gesammelt und 30 Tage aufbewahrt.</a:t>
            </a:r>
            <a:endParaRPr lang="en-US" sz="2400"/>
          </a:p>
        </p:txBody>
      </p:sp>
      <p:sp>
        <p:nvSpPr>
          <p:cNvPr id="169499971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44147625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000724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35629549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87655257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20k€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61603767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60881712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205054545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07115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M2: </a:t>
            </a:r>
            <a:r>
              <a:rPr lang="de-DE" sz="4000"/>
              <a:t>Logging</a:t>
            </a:r>
            <a:r>
              <a:rPr lang="de-DE" sz="4000"/>
              <a:t> &amp; SIEM/MDR</a:t>
            </a:r>
            <a:endParaRPr lang="en-US" sz="4000"/>
          </a:p>
        </p:txBody>
      </p:sp>
      <p:sp>
        <p:nvSpPr>
          <p:cNvPr id="503217509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Sichtbarkeit schaffen, Angriffe erkennen</a:t>
            </a:r>
            <a:endParaRPr lang="en-US"/>
          </a:p>
        </p:txBody>
      </p:sp>
      <p:sp>
        <p:nvSpPr>
          <p:cNvPr id="125166175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Wie ein Überwachungssystem für die IT: Alle wichtigen Ereignisse werden protokolliert und ausgewertet, um verdächtige Aktivitäten frühzeitig zu erkennen.</a:t>
            </a:r>
            <a:endParaRPr/>
          </a:p>
        </p:txBody>
      </p:sp>
      <p:sp>
        <p:nvSpPr>
          <p:cNvPr id="159844701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Automatische Alarme bei verdächtigen Mustern (z.B. viele fehlgeschlagene Logins).</a:t>
            </a:r>
            <a:endParaRPr lang="en-US" sz="2400"/>
          </a:p>
        </p:txBody>
      </p:sp>
      <p:sp>
        <p:nvSpPr>
          <p:cNvPr id="31685287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58850170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80501165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+5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56871487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405333965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51567851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50k€  |  </a:t>
            </a:r>
            <a:r>
              <a:rPr lang="de-DE" sz="2400" b="1"/>
              <a:t>OPEX</a:t>
            </a:r>
            <a:r>
              <a:rPr lang="de-DE" sz="2400"/>
              <a:t>: 8k€/Welle</a:t>
            </a:r>
            <a:endParaRPr/>
          </a:p>
        </p:txBody>
      </p:sp>
      <p:sp>
        <p:nvSpPr>
          <p:cNvPr id="1509111081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78859739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683767032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89961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M2: </a:t>
            </a:r>
            <a:r>
              <a:rPr lang="de-DE" sz="4000"/>
              <a:t>Logging</a:t>
            </a:r>
            <a:r>
              <a:rPr lang="de-DE" sz="4000"/>
              <a:t> &amp; SIEM/MDR</a:t>
            </a:r>
            <a:endParaRPr lang="en-US" sz="4000"/>
          </a:p>
        </p:txBody>
      </p:sp>
      <p:sp>
        <p:nvSpPr>
          <p:cNvPr id="136479519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Sichtbarkeit schaffen, Angriffe erkennen</a:t>
            </a:r>
            <a:endParaRPr lang="en-US"/>
          </a:p>
        </p:txBody>
      </p:sp>
      <p:sp>
        <p:nvSpPr>
          <p:cNvPr id="201133290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Wie ein Überwachungssystem für die IT: Alle wichtigen Ereignisse werden protokolliert und ausgewertet, um verdächtige Aktivitäten frühzeitig zu erkennen.</a:t>
            </a:r>
            <a:endParaRPr/>
          </a:p>
        </p:txBody>
      </p:sp>
      <p:sp>
        <p:nvSpPr>
          <p:cNvPr id="67246609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Externe Sicherheitsexperten überwachen rund um die Uhr.</a:t>
            </a:r>
            <a:endParaRPr lang="en-US" sz="2400"/>
          </a:p>
        </p:txBody>
      </p:sp>
      <p:sp>
        <p:nvSpPr>
          <p:cNvPr id="1534862098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1630025847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738018371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+7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46702367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772231510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482174594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80k€  |  </a:t>
            </a:r>
            <a:r>
              <a:rPr lang="de-DE" sz="2400" b="1"/>
              <a:t>OPEX</a:t>
            </a:r>
            <a:r>
              <a:rPr lang="de-DE" sz="2400"/>
              <a:t>: 24k€/Welle</a:t>
            </a:r>
            <a:endParaRPr/>
          </a:p>
        </p:txBody>
      </p:sp>
      <p:sp>
        <p:nvSpPr>
          <p:cNvPr id="43014075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18852449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495595562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85361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M3: EDR/XDR</a:t>
            </a:r>
            <a:endParaRPr/>
          </a:p>
        </p:txBody>
      </p:sp>
      <p:sp>
        <p:nvSpPr>
          <p:cNvPr id="97285815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Schadsoftware auf Clients/Servern erkennen</a:t>
            </a:r>
            <a:endParaRPr lang="en-US"/>
          </a:p>
        </p:txBody>
      </p:sp>
      <p:sp>
        <p:nvSpPr>
          <p:cNvPr id="167604036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Virenschutz für alle Computer im Unternehmen. Erkennt und stoppt Schadsoftware, bevor sie Schaden anrichten kann.</a:t>
            </a:r>
            <a:endParaRPr/>
          </a:p>
        </p:txBody>
      </p:sp>
      <p:sp>
        <p:nvSpPr>
          <p:cNvPr id="203050805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Klassischer Virenscanner, der bekannte Schadsoftware erkennt.</a:t>
            </a:r>
            <a:endParaRPr lang="en-US" sz="2400"/>
          </a:p>
        </p:txBody>
      </p:sp>
      <p:sp>
        <p:nvSpPr>
          <p:cNvPr id="19832339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05188751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651269354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49555214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15224500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24k€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47209237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20453209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814120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42153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M3: EDR/XDR</a:t>
            </a:r>
            <a:endParaRPr lang="en-US" sz="4000"/>
          </a:p>
        </p:txBody>
      </p:sp>
      <p:sp>
        <p:nvSpPr>
          <p:cNvPr id="68684521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Schadsoftware auf Clients/Servern erkennen</a:t>
            </a:r>
            <a:endParaRPr lang="en-US"/>
          </a:p>
        </p:txBody>
      </p:sp>
      <p:sp>
        <p:nvSpPr>
          <p:cNvPr id="52843493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Virenschutz für alle Computer im Unternehmen. Erkennt und stoppt Schadsoftware, bevor sie Schaden anrichten kann.</a:t>
            </a:r>
            <a:endParaRPr/>
          </a:p>
        </p:txBody>
      </p:sp>
      <p:sp>
        <p:nvSpPr>
          <p:cNvPr id="32346931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1" y="3129770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Erkennt auch unbekannte Bedrohungen anhand von verdächtigem Verhalten, isoliert befallene Rechner automatisch.</a:t>
            </a:r>
            <a:endParaRPr lang="en-US" sz="2400"/>
          </a:p>
        </p:txBody>
      </p:sp>
      <p:sp>
        <p:nvSpPr>
          <p:cNvPr id="74816693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212596332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30667874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+5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149654880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22055626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92407251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56k€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464834355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99503313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08285462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90528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M3: EDR/XDR</a:t>
            </a:r>
            <a:endParaRPr lang="en-US" sz="4000"/>
          </a:p>
        </p:txBody>
      </p:sp>
      <p:sp>
        <p:nvSpPr>
          <p:cNvPr id="350084483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Schadsoftware auf Clients/Servern erkennen</a:t>
            </a:r>
            <a:endParaRPr lang="en-US"/>
          </a:p>
        </p:txBody>
      </p:sp>
      <p:sp>
        <p:nvSpPr>
          <p:cNvPr id="96824698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Virenschutz für alle Computer im Unternehmen. Erkennt und stoppt Schadsoftware, bevor sie Schaden anrichten kann.</a:t>
            </a:r>
            <a:endParaRPr/>
          </a:p>
        </p:txBody>
      </p:sp>
      <p:sp>
        <p:nvSpPr>
          <p:cNvPr id="1465800207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Vernetzt alle Sicherheitssysteme - erkennt komplexe Angriffe über mehrere Systeme hinweg.</a:t>
            </a:r>
            <a:endParaRPr lang="en-US" sz="2400"/>
          </a:p>
        </p:txBody>
      </p:sp>
      <p:sp>
        <p:nvSpPr>
          <p:cNvPr id="16262578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92438185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420802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+7  |  </a:t>
            </a:r>
            <a:r>
              <a:rPr lang="de-DE" sz="2400" b="1"/>
              <a:t>I</a:t>
            </a:r>
            <a:r>
              <a:rPr lang="de-DE" sz="2400"/>
              <a:t> +6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166814316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865222835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721008368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90k€  |  </a:t>
            </a:r>
            <a:r>
              <a:rPr lang="de-DE" sz="2400" b="1"/>
              <a:t>OPEX</a:t>
            </a:r>
            <a:r>
              <a:rPr lang="de-DE" sz="2400"/>
              <a:t>: 18k€/Welle</a:t>
            </a:r>
            <a:endParaRPr/>
          </a:p>
        </p:txBody>
      </p:sp>
      <p:sp>
        <p:nvSpPr>
          <p:cNvPr id="99328205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98976880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rgbClr val="C00000"/>
                </a:solidFill>
                <a:latin typeface="Segoe UI"/>
                <a:ea typeface="Segoe UI"/>
                <a:cs typeface="Segoe UI"/>
              </a:rPr>
              <a:t>M2 min. L2</a:t>
            </a:r>
            <a:endParaRPr sz="2400" b="0">
              <a:solidFill>
                <a:srgbClr val="C00000"/>
              </a:solidFill>
            </a:endParaRPr>
          </a:p>
        </p:txBody>
      </p:sp>
      <p:sp>
        <p:nvSpPr>
          <p:cNvPr id="344293675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85242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M4: Backup &amp; </a:t>
            </a:r>
            <a:r>
              <a:rPr lang="de-DE" sz="4000"/>
              <a:t>Disaster</a:t>
            </a:r>
            <a:r>
              <a:rPr lang="de-DE" sz="4000"/>
              <a:t> Recovery</a:t>
            </a:r>
            <a:endParaRPr/>
          </a:p>
        </p:txBody>
      </p:sp>
      <p:sp>
        <p:nvSpPr>
          <p:cNvPr id="24314316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Daten wiederherstellen, Betrieb aufrechterhalten</a:t>
            </a:r>
            <a:endParaRPr lang="en-US"/>
          </a:p>
        </p:txBody>
      </p:sp>
      <p:sp>
        <p:nvSpPr>
          <p:cNvPr id="129155394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Die Lebensversicherung für Unternehmensdaten. Regelmäßige Sicherungskopien ermöglichen es, nach einem Angriff oder Ausfall schnell wieder arbeitsfähig zu sein.</a:t>
            </a:r>
            <a:endParaRPr/>
          </a:p>
        </p:txBody>
      </p:sp>
      <p:sp>
        <p:nvSpPr>
          <p:cNvPr id="191862749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Tägliche Datensicherung, aber ohne regelmäßige Tests ob die Wiederherstellung funktioniert.</a:t>
            </a:r>
            <a:endParaRPr lang="en-US" sz="2400"/>
          </a:p>
        </p:txBody>
      </p:sp>
      <p:sp>
        <p:nvSpPr>
          <p:cNvPr id="1732648478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921451079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6544728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+0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149081558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11315871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16k€  |  </a:t>
            </a:r>
            <a:r>
              <a:rPr lang="de-DE" sz="2400" b="1"/>
              <a:t>OPEX</a:t>
            </a:r>
            <a:r>
              <a:rPr lang="de-DE" sz="2400"/>
              <a:t>: 6k€/Welle</a:t>
            </a:r>
            <a:endParaRPr/>
          </a:p>
        </p:txBody>
      </p:sp>
      <p:sp>
        <p:nvSpPr>
          <p:cNvPr id="5700534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47669736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1895839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74933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M4: Backup &amp; </a:t>
            </a:r>
            <a:r>
              <a:rPr lang="de-DE" sz="4000"/>
              <a:t>Disaster</a:t>
            </a:r>
            <a:r>
              <a:rPr lang="de-DE" sz="4000"/>
              <a:t> Recovery</a:t>
            </a:r>
            <a:endParaRPr lang="en-US" sz="4000"/>
          </a:p>
        </p:txBody>
      </p:sp>
      <p:sp>
        <p:nvSpPr>
          <p:cNvPr id="193685567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Daten wiederherstellen, Betrieb aufrechterhalten</a:t>
            </a:r>
            <a:endParaRPr lang="en-US"/>
          </a:p>
        </p:txBody>
      </p:sp>
      <p:sp>
        <p:nvSpPr>
          <p:cNvPr id="143540251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Die Lebensversicherung für Unternehmensdaten. Regelmäßige Sicherungskopien ermöglichen es, nach einem Angriff oder Ausfall schnell wieder arbeitsfähig zu sein.</a:t>
            </a:r>
            <a:endParaRPr/>
          </a:p>
        </p:txBody>
      </p:sp>
      <p:sp>
        <p:nvSpPr>
          <p:cNvPr id="1827046493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Backups an mehreren Orten, monatlich wird geprüft ob Wiederherstellung klappt.</a:t>
            </a:r>
            <a:endParaRPr lang="en-US" sz="2400"/>
          </a:p>
        </p:txBody>
      </p:sp>
      <p:sp>
        <p:nvSpPr>
          <p:cNvPr id="143416555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2054927672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125581678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+6  |  </a:t>
            </a:r>
            <a:r>
              <a:rPr lang="de-DE" sz="2400" b="1"/>
              <a:t>A</a:t>
            </a:r>
            <a:r>
              <a:rPr lang="de-DE" sz="2400"/>
              <a:t> +5</a:t>
            </a:r>
            <a:endParaRPr/>
          </a:p>
        </p:txBody>
      </p:sp>
      <p:sp>
        <p:nvSpPr>
          <p:cNvPr id="133486052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23659097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72971614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12k€/Welle</a:t>
            </a:r>
            <a:endParaRPr/>
          </a:p>
        </p:txBody>
      </p:sp>
      <p:sp>
        <p:nvSpPr>
          <p:cNvPr id="1953665247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66219852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50633630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07604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M4: Backup &amp; </a:t>
            </a:r>
            <a:r>
              <a:rPr lang="de-DE" sz="4000"/>
              <a:t>Disaster</a:t>
            </a:r>
            <a:r>
              <a:rPr lang="de-DE" sz="4000"/>
              <a:t> Recovery</a:t>
            </a:r>
            <a:endParaRPr lang="en-US" sz="4000"/>
          </a:p>
        </p:txBody>
      </p:sp>
      <p:sp>
        <p:nvSpPr>
          <p:cNvPr id="192203479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Daten wiederherstellen, Betrieb aufrechterhalten</a:t>
            </a:r>
            <a:endParaRPr lang="en-US"/>
          </a:p>
        </p:txBody>
      </p:sp>
      <p:sp>
        <p:nvSpPr>
          <p:cNvPr id="9232068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Die Lebensversicherung für Unternehmensdaten. Regelmäßige Sicherungskopien ermöglichen es, nach einem Angriff oder Ausfall schnell wieder arbeitsfähig zu sein.</a:t>
            </a:r>
            <a:endParaRPr/>
          </a:p>
        </p:txBody>
      </p:sp>
      <p:sp>
        <p:nvSpPr>
          <p:cNvPr id="156565445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136332888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65288970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+8  |  </a:t>
            </a:r>
            <a:r>
              <a:rPr lang="de-DE" sz="2400" b="1"/>
              <a:t>A</a:t>
            </a:r>
            <a:r>
              <a:rPr lang="de-DE" sz="2400"/>
              <a:t> +7</a:t>
            </a:r>
            <a:endParaRPr/>
          </a:p>
        </p:txBody>
      </p:sp>
      <p:sp>
        <p:nvSpPr>
          <p:cNvPr id="177925125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105094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81254823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80k€  |  </a:t>
            </a:r>
            <a:r>
              <a:rPr lang="de-DE" sz="2400" b="1"/>
              <a:t>OPEX</a:t>
            </a:r>
            <a:r>
              <a:rPr lang="de-DE" sz="2400"/>
              <a:t>: 20k€/Welle</a:t>
            </a:r>
            <a:endParaRPr/>
          </a:p>
        </p:txBody>
      </p:sp>
      <p:sp>
        <p:nvSpPr>
          <p:cNvPr id="34584305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52255722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55160262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12227476" name="Text Placeholder 8"/>
          <p:cNvSpPr txBox="1"/>
          <p:nvPr/>
        </p:nvSpPr>
        <p:spPr bwMode="auto">
          <a:xfrm>
            <a:off x="608006" y="3124784"/>
            <a:ext cx="5229827" cy="220008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Backups sind unveränderbar und vom Netzwerk getrennt - selbst Hacker können sie nicht löschen. Schnelle Wiederherstellung garantiert.</a:t>
            </a:r>
            <a:endParaRPr 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81715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M5: OT/IT-Netz-Segmentierung</a:t>
            </a:r>
            <a:endParaRPr/>
          </a:p>
        </p:txBody>
      </p:sp>
      <p:sp>
        <p:nvSpPr>
          <p:cNvPr id="127723482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Produktionsnetz vom Office-Netz trennen</a:t>
            </a:r>
            <a:endParaRPr lang="en-US"/>
          </a:p>
        </p:txBody>
      </p:sp>
      <p:sp>
        <p:nvSpPr>
          <p:cNvPr id="53691769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Baut digitale Brandmauern zwischen Büro und Produktion. Ein Angriff im Büro soll nicht die Fertigungsanlagen lahmlegen können.</a:t>
            </a:r>
            <a:endParaRPr/>
          </a:p>
        </p:txBody>
      </p:sp>
      <p:sp>
        <p:nvSpPr>
          <p:cNvPr id="39131735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Netzwerke sind logisch getrennt, aber ohne strenge Zugangskontrollen.</a:t>
            </a:r>
            <a:endParaRPr lang="en-US" sz="2400"/>
          </a:p>
        </p:txBody>
      </p:sp>
      <p:sp>
        <p:nvSpPr>
          <p:cNvPr id="1388530275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69371924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80661286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+4</a:t>
            </a:r>
            <a:endParaRPr/>
          </a:p>
        </p:txBody>
      </p:sp>
      <p:sp>
        <p:nvSpPr>
          <p:cNvPr id="5296242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2435047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125220577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331513716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02674291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415791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M5: OT/IT-Netz-Segmentierung</a:t>
            </a:r>
            <a:endParaRPr lang="en-US" sz="4000"/>
          </a:p>
        </p:txBody>
      </p:sp>
      <p:sp>
        <p:nvSpPr>
          <p:cNvPr id="1897585942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Produktionsnetz vom Office-Netz trennen</a:t>
            </a:r>
            <a:endParaRPr lang="en-US"/>
          </a:p>
        </p:txBody>
      </p:sp>
      <p:sp>
        <p:nvSpPr>
          <p:cNvPr id="72151927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Baut digitale Brandmauern zwischen Büro und Produktion. Ein Angriff im Büro soll nicht die Fertigungsanlagen lahmlegen können.</a:t>
            </a:r>
            <a:endParaRPr/>
          </a:p>
        </p:txBody>
      </p:sp>
      <p:sp>
        <p:nvSpPr>
          <p:cNvPr id="141950136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Echte Firewall zwischen Büro und Produktion - nur explizit erlaubter Datenverkehr kommt durch.</a:t>
            </a:r>
            <a:endParaRPr lang="en-US" sz="2400"/>
          </a:p>
        </p:txBody>
      </p:sp>
      <p:sp>
        <p:nvSpPr>
          <p:cNvPr id="41667914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24859654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97844707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+6</a:t>
            </a:r>
            <a:endParaRPr/>
          </a:p>
        </p:txBody>
      </p:sp>
      <p:sp>
        <p:nvSpPr>
          <p:cNvPr id="56146453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6180842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76154773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70k€  |  </a:t>
            </a:r>
            <a:r>
              <a:rPr lang="de-DE" sz="2400" b="1"/>
              <a:t>OPEX</a:t>
            </a:r>
            <a:r>
              <a:rPr lang="de-DE" sz="2400"/>
              <a:t>: 6k€/Welle</a:t>
            </a:r>
            <a:endParaRPr/>
          </a:p>
        </p:txBody>
      </p:sp>
      <p:sp>
        <p:nvSpPr>
          <p:cNvPr id="1289452151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981254756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49020223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00763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M5: OT/IT-Netz-Segmentierung</a:t>
            </a:r>
            <a:endParaRPr lang="en-US" sz="4000"/>
          </a:p>
        </p:txBody>
      </p:sp>
      <p:sp>
        <p:nvSpPr>
          <p:cNvPr id="24655204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Produktionsnetz vom Office-Netz trennen</a:t>
            </a:r>
            <a:endParaRPr lang="en-US"/>
          </a:p>
        </p:txBody>
      </p:sp>
      <p:sp>
        <p:nvSpPr>
          <p:cNvPr id="354469051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Baut digitale Brandmauern zwischen Büro und Produktion. Ein Angriff im Büro soll nicht die Fertigungsanlagen lahmlegen können.</a:t>
            </a:r>
            <a:endParaRPr/>
          </a:p>
        </p:txBody>
      </p:sp>
      <p:sp>
        <p:nvSpPr>
          <p:cNvPr id="107623859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341162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Jede Produktionslinie ist einzeln abgesichert, verdächtiger Datenverkehr wird automatisch blockiert.</a:t>
            </a:r>
            <a:endParaRPr lang="en-US" sz="2400"/>
          </a:p>
        </p:txBody>
      </p:sp>
      <p:sp>
        <p:nvSpPr>
          <p:cNvPr id="118781845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643873842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48962222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+8</a:t>
            </a:r>
            <a:endParaRPr/>
          </a:p>
        </p:txBody>
      </p:sp>
      <p:sp>
        <p:nvSpPr>
          <p:cNvPr id="66464916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5193471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2044334140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110k€  |  </a:t>
            </a:r>
            <a:r>
              <a:rPr lang="de-DE" sz="2400" b="1"/>
              <a:t>OPEX</a:t>
            </a:r>
            <a:r>
              <a:rPr lang="de-DE" sz="2400"/>
              <a:t>: 12k€/Welle</a:t>
            </a:r>
            <a:endParaRPr/>
          </a:p>
        </p:txBody>
      </p:sp>
      <p:sp>
        <p:nvSpPr>
          <p:cNvPr id="188662512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8670988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6740091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58229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M6: Security Awareness &amp; Training</a:t>
            </a:r>
            <a:endParaRPr/>
          </a:p>
        </p:txBody>
      </p:sp>
      <p:sp>
        <p:nvSpPr>
          <p:cNvPr id="1328828908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Mitarbeitende sensibilisieren, Phishing abwehren</a:t>
            </a:r>
            <a:endParaRPr lang="en-US"/>
          </a:p>
        </p:txBody>
      </p:sp>
      <p:sp>
        <p:nvSpPr>
          <p:cNvPr id="210551574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Macht Mitarbeiter zur ersten Verteidigungslinie. Geschulte Mitarbeiter erkennen Betrugsversuche und gefährliche E-Mails, bevor Schaden entsteht.</a:t>
            </a:r>
            <a:endParaRPr/>
          </a:p>
        </p:txBody>
      </p:sp>
      <p:sp>
        <p:nvSpPr>
          <p:cNvPr id="1081249470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Einmal im Jahr eine kurze Online-Schulung zum Thema IT-Sicherheit.</a:t>
            </a:r>
            <a:endParaRPr lang="en-US" sz="2400"/>
          </a:p>
        </p:txBody>
      </p:sp>
      <p:sp>
        <p:nvSpPr>
          <p:cNvPr id="658259120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23056867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98329758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1615607346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868822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10k€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64013798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919375632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557485355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77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M6: Security Awareness &amp; Training</a:t>
            </a:r>
            <a:endParaRPr lang="en-US" sz="4000"/>
          </a:p>
        </p:txBody>
      </p:sp>
      <p:sp>
        <p:nvSpPr>
          <p:cNvPr id="192697919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Mitarbeitende sensibilisieren, Phishing abwehren</a:t>
            </a:r>
            <a:endParaRPr lang="en-US"/>
          </a:p>
        </p:txBody>
      </p:sp>
      <p:sp>
        <p:nvSpPr>
          <p:cNvPr id="48994806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Macht Mitarbeiter zur ersten Verteidigungslinie. Geschulte Mitarbeiter erkennen Betrugsversuche und gefährliche E-Mails, bevor Schaden entsteht.</a:t>
            </a:r>
            <a:endParaRPr/>
          </a:p>
        </p:txBody>
      </p:sp>
      <p:sp>
        <p:nvSpPr>
          <p:cNvPr id="142546881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Regelmäßige Schulungen plus Test-Phishing-Mails, um die Wachsamkeit zu prüfen.</a:t>
            </a:r>
            <a:endParaRPr lang="en-US" sz="2400"/>
          </a:p>
        </p:txBody>
      </p:sp>
      <p:sp>
        <p:nvSpPr>
          <p:cNvPr id="891767480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75927771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84635327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146791404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13596236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0709711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24k€  |  </a:t>
            </a:r>
            <a:r>
              <a:rPr lang="de-DE" sz="2400" b="1"/>
              <a:t>OPEX</a:t>
            </a:r>
            <a:r>
              <a:rPr lang="de-DE" sz="2400"/>
              <a:t>: 6k€/Welle</a:t>
            </a:r>
            <a:endParaRPr/>
          </a:p>
        </p:txBody>
      </p:sp>
      <p:sp>
        <p:nvSpPr>
          <p:cNvPr id="3817160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22670589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76646776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95129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M6: Security Awareness &amp; Training</a:t>
            </a:r>
            <a:endParaRPr lang="en-US" sz="4000"/>
          </a:p>
        </p:txBody>
      </p:sp>
      <p:sp>
        <p:nvSpPr>
          <p:cNvPr id="81140439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Mitarbeitende sensibilisieren, Phishing abwehren</a:t>
            </a:r>
            <a:endParaRPr lang="en-US"/>
          </a:p>
        </p:txBody>
      </p:sp>
      <p:sp>
        <p:nvSpPr>
          <p:cNvPr id="207140391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Macht Mitarbeiter zur ersten Verteidigungslinie. Geschulte Mitarbeiter erkennen Betrugsversuche und gefährliche E-Mails, bevor Schaden entsteht.</a:t>
            </a:r>
            <a:endParaRPr/>
          </a:p>
        </p:txBody>
      </p:sp>
      <p:sp>
        <p:nvSpPr>
          <p:cNvPr id="1549926053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Externe Sicherheitsexperten überwachen rund um die Uhr.</a:t>
            </a:r>
            <a:endParaRPr lang="en-US" sz="2400"/>
          </a:p>
        </p:txBody>
      </p:sp>
      <p:sp>
        <p:nvSpPr>
          <p:cNvPr id="852493639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189132229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7141988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+5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625003870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756085751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61888375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111129770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70754202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66253474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62969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M7: </a:t>
            </a:r>
            <a:r>
              <a:rPr lang="de-DE" sz="4000"/>
              <a:t>Vulnerability</a:t>
            </a:r>
            <a:r>
              <a:rPr lang="de-DE" sz="4000"/>
              <a:t> &amp; Patch Management</a:t>
            </a:r>
            <a:endParaRPr/>
          </a:p>
        </p:txBody>
      </p:sp>
      <p:sp>
        <p:nvSpPr>
          <p:cNvPr id="33427775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Schwachstellen schließen, Angriffsfläche reduzieren</a:t>
            </a:r>
            <a:endParaRPr lang="en-US"/>
          </a:p>
        </p:txBody>
      </p:sp>
      <p:sp>
        <p:nvSpPr>
          <p:cNvPr id="1371860413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Hält alle Systeme auf dem neuesten Stand. Sicherheitslücken werden durch Updates geschlossen, bevor Angreifer sie ausnutzen können.</a:t>
            </a:r>
            <a:endParaRPr/>
          </a:p>
        </p:txBody>
      </p:sp>
      <p:sp>
        <p:nvSpPr>
          <p:cNvPr id="1724078915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Windows-Updates laufen automatisch, Produktionssysteme werden unregelmäßig aktualisiert.</a:t>
            </a:r>
            <a:endParaRPr lang="en-US" sz="2400"/>
          </a:p>
        </p:txBody>
      </p:sp>
      <p:sp>
        <p:nvSpPr>
          <p:cNvPr id="69632488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063303168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26042958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1361457115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77947255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20k€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90231824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42213726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78835400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14272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M7: </a:t>
            </a:r>
            <a:r>
              <a:rPr lang="de-DE" sz="4000"/>
              <a:t>Vulnerability</a:t>
            </a:r>
            <a:r>
              <a:rPr lang="de-DE" sz="4000"/>
              <a:t> &amp; Patch Management</a:t>
            </a:r>
            <a:endParaRPr lang="en-US" sz="4000"/>
          </a:p>
        </p:txBody>
      </p:sp>
      <p:sp>
        <p:nvSpPr>
          <p:cNvPr id="103232651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Schwachstellen schließen, Angriffsfläche reduzieren</a:t>
            </a:r>
            <a:endParaRPr lang="en-US"/>
          </a:p>
        </p:txBody>
      </p:sp>
      <p:sp>
        <p:nvSpPr>
          <p:cNvPr id="31046292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Hält alle Systeme auf dem neuesten Stand. Sicherheitslücken werden durch Updates geschlossen, bevor Angreifer sie ausnutzen können.</a:t>
            </a:r>
            <a:endParaRPr/>
          </a:p>
        </p:txBody>
      </p:sp>
      <p:sp>
        <p:nvSpPr>
          <p:cNvPr id="200055421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Strukturierter monatlicher Update-Prozess, regelmäßige Suche nach Schwachstellen.</a:t>
            </a:r>
            <a:endParaRPr lang="en-US" sz="2400"/>
          </a:p>
        </p:txBody>
      </p:sp>
      <p:sp>
        <p:nvSpPr>
          <p:cNvPr id="88474900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979157552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62950810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+5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81707902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49861049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98984636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44k€  |  </a:t>
            </a:r>
            <a:r>
              <a:rPr lang="de-DE" sz="2400" b="1"/>
              <a:t>OPEX</a:t>
            </a:r>
            <a:r>
              <a:rPr lang="de-DE" sz="2400"/>
              <a:t>: 8k€/Welle</a:t>
            </a:r>
            <a:endParaRPr/>
          </a:p>
        </p:txBody>
      </p:sp>
      <p:sp>
        <p:nvSpPr>
          <p:cNvPr id="2938184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988940622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272074458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76987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M7: </a:t>
            </a:r>
            <a:r>
              <a:rPr lang="de-DE" sz="4000"/>
              <a:t>Vulnerability</a:t>
            </a:r>
            <a:r>
              <a:rPr lang="de-DE" sz="4000"/>
              <a:t> &amp; Patch Management</a:t>
            </a:r>
            <a:endParaRPr lang="en-US" sz="4000"/>
          </a:p>
        </p:txBody>
      </p:sp>
      <p:sp>
        <p:nvSpPr>
          <p:cNvPr id="78245973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Schwachstellen schließen, Angriffsfläche reduzieren</a:t>
            </a:r>
            <a:endParaRPr lang="en-US"/>
          </a:p>
        </p:txBody>
      </p:sp>
      <p:sp>
        <p:nvSpPr>
          <p:cNvPr id="66799281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Hält alle Systeme auf dem neuesten Stand. Sicherheitslücken werden durch Updates geschlossen, bevor Angreifer sie ausnutzen können.</a:t>
            </a:r>
            <a:endParaRPr/>
          </a:p>
        </p:txBody>
      </p:sp>
      <p:sp>
        <p:nvSpPr>
          <p:cNvPr id="1324729964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Kritische Lücken werden priorisiert geschlossen, wöchentliche automatische Schwachstellen-Scans.</a:t>
            </a:r>
            <a:endParaRPr lang="en-US" sz="2400"/>
          </a:p>
        </p:txBody>
      </p:sp>
      <p:sp>
        <p:nvSpPr>
          <p:cNvPr id="63580392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939237544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80953905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+6  |  </a:t>
            </a:r>
            <a:r>
              <a:rPr lang="de-DE" sz="2400" b="1"/>
              <a:t>I</a:t>
            </a:r>
            <a:r>
              <a:rPr lang="de-DE" sz="2400"/>
              <a:t> +7  |  </a:t>
            </a:r>
            <a:r>
              <a:rPr lang="de-DE" sz="2400" b="1"/>
              <a:t>A</a:t>
            </a:r>
            <a:r>
              <a:rPr lang="de-DE" sz="2400"/>
              <a:t> +4</a:t>
            </a:r>
            <a:endParaRPr/>
          </a:p>
        </p:txBody>
      </p:sp>
      <p:sp>
        <p:nvSpPr>
          <p:cNvPr id="6964866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44722479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62114350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76k€  |  </a:t>
            </a:r>
            <a:r>
              <a:rPr lang="de-DE" sz="2400" b="1"/>
              <a:t>OPEX</a:t>
            </a:r>
            <a:r>
              <a:rPr lang="de-DE" sz="2400"/>
              <a:t>: 14k€/Welle</a:t>
            </a:r>
            <a:endParaRPr/>
          </a:p>
        </p:txBody>
      </p:sp>
      <p:sp>
        <p:nvSpPr>
          <p:cNvPr id="2285970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806652491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>
                <a:solidFill>
                  <a:srgbClr val="C00000"/>
                </a:solidFill>
              </a:rPr>
              <a:t>M2 min. L1</a:t>
            </a:r>
            <a:endParaRPr/>
          </a:p>
        </p:txBody>
      </p:sp>
      <p:sp>
        <p:nvSpPr>
          <p:cNvPr id="1607753862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99686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en-US" sz="4000"/>
              <a:t>M8: Supplier Security &amp; Supply Chain</a:t>
            </a:r>
            <a:endParaRPr/>
          </a:p>
        </p:txBody>
      </p:sp>
      <p:sp>
        <p:nvSpPr>
          <p:cNvPr id="136002295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Lieferanten-Risiken managen, Abhängigkeiten absichern</a:t>
            </a:r>
            <a:endParaRPr lang="en-US"/>
          </a:p>
        </p:txBody>
      </p:sp>
      <p:sp>
        <p:nvSpPr>
          <p:cNvPr id="149544246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vor Risiken durch Geschäftspartner. Denn auch über einen gehackten Lieferanten können Angreifer ins Unternehmen gelangen.</a:t>
            </a:r>
            <a:endParaRPr/>
          </a:p>
        </p:txBody>
      </p:sp>
      <p:sp>
        <p:nvSpPr>
          <p:cNvPr id="1152700129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Sicherheitsanforderungen stehen im Vertrag, gelegentliche Überprüfungen.</a:t>
            </a:r>
            <a:endParaRPr lang="en-US" sz="2400"/>
          </a:p>
        </p:txBody>
      </p:sp>
      <p:sp>
        <p:nvSpPr>
          <p:cNvPr id="1439583686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733452977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33343055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96253214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26292784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16k€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118727051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83497946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624532255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069856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en-US" sz="4000"/>
              <a:t>M8: Supplier Security &amp; Supply Chain</a:t>
            </a:r>
            <a:endParaRPr/>
          </a:p>
        </p:txBody>
      </p:sp>
      <p:sp>
        <p:nvSpPr>
          <p:cNvPr id="307356688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Lieferanten-Risiken managen, Abhängigkeiten absichern</a:t>
            </a:r>
            <a:endParaRPr lang="en-US"/>
          </a:p>
        </p:txBody>
      </p:sp>
      <p:sp>
        <p:nvSpPr>
          <p:cNvPr id="1415570212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vor Risiken durch Geschäftspartner. Denn auch über einen gehackten Lieferanten können Angreifer ins Unternehmen gelangen.</a:t>
            </a:r>
            <a:endParaRPr/>
          </a:p>
        </p:txBody>
      </p:sp>
      <p:sp>
        <p:nvSpPr>
          <p:cNvPr id="1941347067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Jährliche Sicherheitsbewertung aller wichtigen Lieferanten, Überwachung der Leistungsversprechen.</a:t>
            </a:r>
            <a:endParaRPr lang="en-US" sz="2400"/>
          </a:p>
        </p:txBody>
      </p:sp>
      <p:sp>
        <p:nvSpPr>
          <p:cNvPr id="1938295126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20087773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7134947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+4</a:t>
            </a:r>
            <a:endParaRPr/>
          </a:p>
        </p:txBody>
      </p:sp>
      <p:sp>
        <p:nvSpPr>
          <p:cNvPr id="191700978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242047351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205554880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36k€  |  </a:t>
            </a:r>
            <a:r>
              <a:rPr lang="de-DE" sz="2400" b="1"/>
              <a:t>OPEX</a:t>
            </a:r>
            <a:r>
              <a:rPr lang="de-DE" sz="2400"/>
              <a:t>: 8k€/Welle</a:t>
            </a:r>
            <a:endParaRPr/>
          </a:p>
        </p:txBody>
      </p:sp>
      <p:sp>
        <p:nvSpPr>
          <p:cNvPr id="855291217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452532273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211417024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50334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en-US" sz="4000"/>
              <a:t>M8: Supplier Security &amp; Supply Chain</a:t>
            </a:r>
            <a:endParaRPr/>
          </a:p>
        </p:txBody>
      </p:sp>
      <p:sp>
        <p:nvSpPr>
          <p:cNvPr id="187760775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Lieferanten-Risiken managen, Abhängigkeiten absichern</a:t>
            </a:r>
            <a:endParaRPr lang="en-US"/>
          </a:p>
        </p:txBody>
      </p:sp>
      <p:sp>
        <p:nvSpPr>
          <p:cNvPr id="38413917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vor Risiken durch Geschäftspartner. Denn auch über einen gehackten Lieferanten können Angreifer ins Unternehmen gelangen.</a:t>
            </a:r>
            <a:endParaRPr/>
          </a:p>
        </p:txBody>
      </p:sp>
      <p:sp>
        <p:nvSpPr>
          <p:cNvPr id="1767438395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Kontinuierliche Überwachung, Backup-Lieferanten für kritische Teile, Schutz bei Lieferanten-Insolvenz.</a:t>
            </a:r>
            <a:endParaRPr lang="en-US" sz="2400"/>
          </a:p>
        </p:txBody>
      </p:sp>
      <p:sp>
        <p:nvSpPr>
          <p:cNvPr id="1471110258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2080207944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556620415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+6  |  </a:t>
            </a:r>
            <a:r>
              <a:rPr lang="de-DE" sz="2400" b="1"/>
              <a:t>A</a:t>
            </a:r>
            <a:r>
              <a:rPr lang="de-DE" sz="2400"/>
              <a:t> +6</a:t>
            </a:r>
            <a:endParaRPr/>
          </a:p>
        </p:txBody>
      </p:sp>
      <p:sp>
        <p:nvSpPr>
          <p:cNvPr id="52425786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201118377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99409793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70k€  |  </a:t>
            </a:r>
            <a:r>
              <a:rPr lang="de-DE" sz="2400" b="1"/>
              <a:t>OPEX</a:t>
            </a:r>
            <a:r>
              <a:rPr lang="de-DE" sz="2400"/>
              <a:t>: 16k€/Welle</a:t>
            </a:r>
            <a:endParaRPr/>
          </a:p>
        </p:txBody>
      </p:sp>
      <p:sp>
        <p:nvSpPr>
          <p:cNvPr id="95864581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74529333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014262909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89793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M9: Cloud Security (CSPM)</a:t>
            </a:r>
            <a:endParaRPr/>
          </a:p>
        </p:txBody>
      </p:sp>
      <p:sp>
        <p:nvSpPr>
          <p:cNvPr id="124499211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Cloud-Konfigurationen überwachen &amp; absichern</a:t>
            </a:r>
            <a:endParaRPr lang="en-US"/>
          </a:p>
        </p:txBody>
      </p:sp>
      <p:sp>
        <p:nvSpPr>
          <p:cNvPr id="877753633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Sichert Daten und Dienste in der Cloud ab. Prüft automatisch, ob Cloud-Systeme sicher konfiguriert sind.</a:t>
            </a:r>
            <a:endParaRPr/>
          </a:p>
        </p:txBody>
      </p:sp>
      <p:sp>
        <p:nvSpPr>
          <p:cNvPr id="618764219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Einfache Überwachung der Cloud-Backups.</a:t>
            </a:r>
            <a:endParaRPr lang="en-US" sz="2400"/>
          </a:p>
        </p:txBody>
      </p:sp>
      <p:sp>
        <p:nvSpPr>
          <p:cNvPr id="364635336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42181524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940328630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1865046495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30043184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18k€  |  </a:t>
            </a:r>
            <a:r>
              <a:rPr lang="de-DE" sz="2400" b="1"/>
              <a:t>OPEX</a:t>
            </a:r>
            <a:r>
              <a:rPr lang="de-DE" sz="2400"/>
              <a:t>: 3k€/Welle</a:t>
            </a:r>
            <a:endParaRPr/>
          </a:p>
        </p:txBody>
      </p:sp>
      <p:sp>
        <p:nvSpPr>
          <p:cNvPr id="83335510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425017031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9356564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06878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M9: Cloud Security (CSPM)</a:t>
            </a:r>
            <a:endParaRPr lang="en-US" sz="4000"/>
          </a:p>
        </p:txBody>
      </p:sp>
      <p:sp>
        <p:nvSpPr>
          <p:cNvPr id="920786073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Cloud-Konfigurationen überwachen &amp; absichern</a:t>
            </a:r>
            <a:endParaRPr lang="en-US"/>
          </a:p>
        </p:txBody>
      </p:sp>
      <p:sp>
        <p:nvSpPr>
          <p:cNvPr id="13670694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Sichert Daten und Dienste in der Cloud ab. Prüft automatisch, ob Cloud-Systeme sicher konfiguriert sind.</a:t>
            </a:r>
            <a:endParaRPr/>
          </a:p>
        </p:txBody>
      </p:sp>
      <p:sp>
        <p:nvSpPr>
          <p:cNvPr id="1373049830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Automatische Prüfung ob Cloud-Einstellungen den Sicherheitsrichtlinien entsprechen.</a:t>
            </a:r>
            <a:endParaRPr lang="en-US" sz="2400"/>
          </a:p>
        </p:txBody>
      </p:sp>
      <p:sp>
        <p:nvSpPr>
          <p:cNvPr id="513118115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028382946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68850863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32845695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199129897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2922171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7k€/Welle</a:t>
            </a:r>
            <a:endParaRPr/>
          </a:p>
        </p:txBody>
      </p:sp>
      <p:sp>
        <p:nvSpPr>
          <p:cNvPr id="637123386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23538765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0237532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92388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M9: Cloud Security (CSPM)</a:t>
            </a:r>
            <a:endParaRPr lang="en-US" sz="4000"/>
          </a:p>
        </p:txBody>
      </p:sp>
      <p:sp>
        <p:nvSpPr>
          <p:cNvPr id="634397083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Cloud-Konfigurationen überwachen &amp; absichern</a:t>
            </a:r>
            <a:endParaRPr lang="en-US"/>
          </a:p>
        </p:txBody>
      </p:sp>
      <p:sp>
        <p:nvSpPr>
          <p:cNvPr id="1600645476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Sichert Daten und Dienste in der Cloud ab. Prüft automatisch, ob Cloud-Systeme sicher konfiguriert sind.</a:t>
            </a:r>
            <a:endParaRPr/>
          </a:p>
        </p:txBody>
      </p:sp>
      <p:sp>
        <p:nvSpPr>
          <p:cNvPr id="119307772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Umfassende Sicherheit über mehrere Cloud-Anbieter, automatische Prüfung aller Cloud-Konfigurationen.</a:t>
            </a:r>
            <a:endParaRPr lang="en-US" sz="2400"/>
          </a:p>
        </p:txBody>
      </p:sp>
      <p:sp>
        <p:nvSpPr>
          <p:cNvPr id="63683657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964208215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798651834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118308269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264893260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95858356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70k€  |  </a:t>
            </a:r>
            <a:r>
              <a:rPr lang="de-DE" sz="2400" b="1"/>
              <a:t>OPEX</a:t>
            </a:r>
            <a:r>
              <a:rPr lang="de-DE" sz="2400"/>
              <a:t>: 14k€/Welle</a:t>
            </a:r>
            <a:endParaRPr/>
          </a:p>
        </p:txBody>
      </p:sp>
      <p:sp>
        <p:nvSpPr>
          <p:cNvPr id="1354243621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55744585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308261110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958941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fr-FR" sz="4000"/>
              <a:t>M10: Mobile </a:t>
            </a:r>
            <a:r>
              <a:rPr lang="fr-FR" sz="4000"/>
              <a:t>Device</a:t>
            </a:r>
            <a:r>
              <a:rPr lang="fr-FR" sz="4000"/>
              <a:t> Management (MDM)</a:t>
            </a:r>
            <a:endParaRPr/>
          </a:p>
        </p:txBody>
      </p:sp>
      <p:sp>
        <p:nvSpPr>
          <p:cNvPr id="809455739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Smartphones/Tablets absichern</a:t>
            </a:r>
            <a:endParaRPr lang="en-US"/>
          </a:p>
        </p:txBody>
      </p:sp>
      <p:sp>
        <p:nvSpPr>
          <p:cNvPr id="45821314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mobile Geräte der Mitarbeiter. Verhindert Datenverlust bei Diebstahl und kontrolliert welche Apps genutzt werden dürfen.</a:t>
            </a:r>
            <a:endParaRPr/>
          </a:p>
        </p:txBody>
      </p:sp>
      <p:sp>
        <p:nvSpPr>
          <p:cNvPr id="104955376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Protokolle werden gesammelt und 30 Tage aufbewahrt.</a:t>
            </a:r>
            <a:endParaRPr lang="en-US" sz="2400"/>
          </a:p>
        </p:txBody>
      </p:sp>
      <p:sp>
        <p:nvSpPr>
          <p:cNvPr id="1598140925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61602698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571502491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45094588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79697707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12k€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106097576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994753585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63723827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18267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fr-FR" sz="4000"/>
              <a:t>M10: Mobile </a:t>
            </a:r>
            <a:r>
              <a:rPr lang="fr-FR" sz="4000"/>
              <a:t>Device</a:t>
            </a:r>
            <a:r>
              <a:rPr lang="fr-FR" sz="4000"/>
              <a:t> Management (MDM)</a:t>
            </a:r>
            <a:endParaRPr lang="en-US" sz="4000"/>
          </a:p>
        </p:txBody>
      </p:sp>
      <p:sp>
        <p:nvSpPr>
          <p:cNvPr id="69844459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Smartphones/Tablets absichern</a:t>
            </a:r>
            <a:endParaRPr lang="en-US"/>
          </a:p>
        </p:txBody>
      </p:sp>
      <p:sp>
        <p:nvSpPr>
          <p:cNvPr id="2097774521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mobile Geräte der Mitarbeiter. Verhindert Datenverlust bei Diebstahl und kontrolliert welche Apps genutzt werden dürfen.</a:t>
            </a:r>
            <a:endParaRPr/>
          </a:p>
        </p:txBody>
      </p:sp>
      <p:sp>
        <p:nvSpPr>
          <p:cNvPr id="1336203497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Zentrale Verwaltung aller Mobilgeräte, nur zugelassene Apps können installiert werden.</a:t>
            </a:r>
            <a:endParaRPr lang="en-US" sz="2400"/>
          </a:p>
        </p:txBody>
      </p:sp>
      <p:sp>
        <p:nvSpPr>
          <p:cNvPr id="11964865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571458799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093386558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1881780446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953656108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2008542297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28k€  |  </a:t>
            </a:r>
            <a:r>
              <a:rPr lang="de-DE" sz="2400" b="1"/>
              <a:t>OPEX</a:t>
            </a:r>
            <a:r>
              <a:rPr lang="de-DE" sz="2400"/>
              <a:t>: 5k€/Welle</a:t>
            </a:r>
            <a:endParaRPr/>
          </a:p>
        </p:txBody>
      </p:sp>
      <p:sp>
        <p:nvSpPr>
          <p:cNvPr id="1696255907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56300155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366573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9282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fr-FR" sz="4000"/>
              <a:t>M10: Mobile </a:t>
            </a:r>
            <a:r>
              <a:rPr lang="fr-FR" sz="4000"/>
              <a:t>Device</a:t>
            </a:r>
            <a:r>
              <a:rPr lang="fr-FR" sz="4000"/>
              <a:t> Management (MDM)</a:t>
            </a:r>
            <a:endParaRPr lang="en-US" sz="4000"/>
          </a:p>
        </p:txBody>
      </p:sp>
      <p:sp>
        <p:nvSpPr>
          <p:cNvPr id="1300555842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Smartphones/Tablets absichern</a:t>
            </a:r>
            <a:endParaRPr lang="en-US"/>
          </a:p>
        </p:txBody>
      </p:sp>
      <p:sp>
        <p:nvSpPr>
          <p:cNvPr id="207570475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mobile Geräte der Mitarbeiter. Verhindert Datenverlust bei Diebstahl und kontrolliert welche Apps genutzt werden dürfen.</a:t>
            </a:r>
            <a:endParaRPr/>
          </a:p>
        </p:txBody>
      </p:sp>
      <p:sp>
        <p:nvSpPr>
          <p:cNvPr id="72761883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Einheitliche Verwaltung aller Endgeräte, aktiver Schutz vor mobilen Bedrohungen.</a:t>
            </a:r>
            <a:endParaRPr lang="en-US" sz="2400"/>
          </a:p>
        </p:txBody>
      </p:sp>
      <p:sp>
        <p:nvSpPr>
          <p:cNvPr id="693243919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862981229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33055344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27812179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55847072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8483877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50k€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707503786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112236285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3365904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Arial"/>
        <a:cs typeface="Arial"/>
      </a:majorFont>
      <a:minorFont>
        <a:latin typeface="Segoe U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ln>
          <a:noFill/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 bwMode="auto">
        <a:prstGeom prst="rect">
          <a:avLst/>
        </a:prstGeom>
        <a:noFill/>
      </a:spPr>
      <a:bodyPr/>
      <a:lstStyle/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customXml/_rels/item1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1.xml"/></Relationships>
</file>

<file path=customXml/_rels/item2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2.xml"/></Relationships>
</file>

<file path=customXml/_rels/item3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This value indicates the number of saves or revisions. The application is responsible for updating this value after each revision.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  <ds:schemaRef ds:uri="http://www.w3.org/2001/XMLSchema-instance"/>
  </ds:schemaRefs>
</ds:datastoreItem>
</file>

<file path=customXml/itemProps3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  <ds:schemaRef ds:uri="http://www.w3.org/2001/XMLSchema-instan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ONLYOFFICE/9.1.0.167</Application>
  <PresentationFormat>On-screen Show (4:3)</PresentationFormat>
  <Paragraphs>0</Paragraphs>
  <Slides>30</Slides>
  <Notes>30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/>
  <cp:revision>10</cp:revision>
  <dcterms:created xsi:type="dcterms:W3CDTF">2024-05-08T11:14:55Z</dcterms:created>
  <dcterms:modified xsi:type="dcterms:W3CDTF">2026-01-28T01:28:34Z</dcterms:modified>
</cp:coreProperties>
</file>