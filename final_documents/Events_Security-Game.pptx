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4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0" d="100"/>
          <a:sy n="150" d="100"/>
        </p:scale>
        <p:origin x="1212" y="13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04864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0687669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9BAC601-79EC-4230-922D-8A80BCD7E733}" type="datetimeFigureOut">
              <a:rPr lang="en-CA"/>
              <a:t>2026-01-26</a:t>
            </a:fld>
            <a:endParaRPr lang="en-CA"/>
          </a:p>
        </p:txBody>
      </p:sp>
      <p:sp>
        <p:nvSpPr>
          <p:cNvPr id="1774093685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CA"/>
          </a:p>
        </p:txBody>
      </p:sp>
      <p:sp>
        <p:nvSpPr>
          <p:cNvPr id="1402211129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CA"/>
          </a:p>
        </p:txBody>
      </p:sp>
      <p:sp>
        <p:nvSpPr>
          <p:cNvPr id="48413797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2540769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46FB33-408D-4E42-9983-6C93B3CEFE46}" type="slidenum">
              <a:rPr lang="en-CA"/>
              <a:t>‹Nr.›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191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0131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2777708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C588CE55-D7C9-5CBB-EB4F-EE2E9CB20D76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405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2406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353544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FD642E8-E52A-0C2B-AE22-206D1C6E415D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962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566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5176215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8F93770A-165D-7910-31E0-1B651AD795FE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805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5248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8544574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07C2A6BA-84E6-3C23-C2E1-505729CBEE49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92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3345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614024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162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805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2835169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B9C6BDD-37CF-F2B3-3877-1C06F082902A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731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5801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9418771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1775253-EC1C-6227-147D-E8627F2E0702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001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589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011545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566719F-DFC7-A5C7-2E91-60FFA5554206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879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17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983128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B7432696-F370-DE92-79D4-4C2BFBAAB421}" type="slidenum">
              <a:rPr lang="en-CA"/>
              <a:t/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_Simpl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63999" name="Rechteck 43"/>
          <p:cNvSpPr/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770726878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</a:t>
            </a:r>
            <a:r>
              <a:rPr lang="de-DE"/>
              <a:t>presentation</a:t>
            </a:r>
            <a:r>
              <a:rPr lang="de-DE"/>
              <a:t> </a:t>
            </a:r>
            <a:r>
              <a:rPr lang="de-DE"/>
              <a:t>titlE</a:t>
            </a:r>
            <a:endParaRPr lang="en-CA"/>
          </a:p>
        </p:txBody>
      </p:sp>
      <p:sp>
        <p:nvSpPr>
          <p:cNvPr id="579863091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</a:t>
            </a:r>
            <a:r>
              <a:rPr lang="de-DE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1229022592" name="Gruppieren 14"/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76497825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_Client Logo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957927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326620360" name="Gruppieren 14"/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517847483" name="Text Placeholder 3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570471" y="1484313"/>
            <a:ext cx="1943100" cy="6984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en-CA"/>
              <a:t>Dedicated placeholder for client logo</a:t>
            </a:r>
            <a:endParaRPr/>
          </a:p>
        </p:txBody>
      </p:sp>
      <p:sp>
        <p:nvSpPr>
          <p:cNvPr id="149785936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</a:t>
            </a:r>
            <a:r>
              <a:rPr lang="de-DE"/>
              <a:t>presentation</a:t>
            </a:r>
            <a:r>
              <a:rPr lang="de-DE"/>
              <a:t> </a:t>
            </a:r>
            <a:r>
              <a:rPr lang="de-DE"/>
              <a:t>titlE</a:t>
            </a:r>
            <a:endParaRPr lang="en-CA"/>
          </a:p>
        </p:txBody>
      </p:sp>
      <p:sp>
        <p:nvSpPr>
          <p:cNvPr id="118429624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</a:t>
            </a:r>
            <a:r>
              <a:rPr lang="de-DE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697361360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white_2 lines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269134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801781967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50510464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224422014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836282144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26.01.2026</a:t>
            </a:fld>
            <a:endParaRPr lang="en-CA"/>
          </a:p>
        </p:txBody>
      </p:sp>
      <p:sp>
        <p:nvSpPr>
          <p:cNvPr id="1751014349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27452778" name="Rechteck 6"/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67146054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573092548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531762351" name="Textplatzhalter 8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991761178" name="Textplatzhalter 82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920922230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394665618" name="Textplatzhalter 82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844053481" name="Textplatzhalter 82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4321451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080770958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818855280" name="Textplatzhalter 82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523795970" name="Textplatzhalter 82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091753295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647807545" name="Textplatzhalter 82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216378522" name="Textplatzhalter 82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68426066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1070959490" name="Textplatzhalter 82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5</a:t>
            </a:r>
            <a:endParaRPr lang="en-CA"/>
          </a:p>
        </p:txBody>
      </p:sp>
      <p:sp>
        <p:nvSpPr>
          <p:cNvPr id="628433573" name="Textplatzhalter 82"/>
          <p:cNvSpPr>
            <a:spLocks noGrp="1"/>
          </p:cNvSpPr>
          <p:nvPr>
            <p:ph type="body" sz="quarter" idx="56" hasCustomPrompt="1"/>
          </p:nvPr>
        </p:nvSpPr>
        <p:spPr bwMode="auto"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490537016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488646358" name="Textplatzhalter 82"/>
          <p:cNvSpPr>
            <a:spLocks noGrp="1"/>
          </p:cNvSpPr>
          <p:nvPr>
            <p:ph type="body" sz="quarter" idx="57" hasCustomPrompt="1"/>
          </p:nvPr>
        </p:nvSpPr>
        <p:spPr bwMode="auto"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6</a:t>
            </a:r>
            <a:endParaRPr lang="en-CA"/>
          </a:p>
        </p:txBody>
      </p:sp>
      <p:sp>
        <p:nvSpPr>
          <p:cNvPr id="1837862896" name="Textplatzhalter 82"/>
          <p:cNvSpPr>
            <a:spLocks noGrp="1"/>
          </p:cNvSpPr>
          <p:nvPr>
            <p:ph type="body" sz="quarter" idx="58" hasCustomPrompt="1"/>
          </p:nvPr>
        </p:nvSpPr>
        <p:spPr bwMode="auto">
          <a:xfrm>
            <a:off x="8544015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774256056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820068201" name="Textplatzhalter 82"/>
          <p:cNvSpPr>
            <a:spLocks noGrp="1"/>
          </p:cNvSpPr>
          <p:nvPr>
            <p:ph type="body" sz="quarter" idx="59" hasCustomPrompt="1"/>
          </p:nvPr>
        </p:nvSpPr>
        <p:spPr bwMode="auto"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7</a:t>
            </a:r>
            <a:endParaRPr lang="en-CA"/>
          </a:p>
        </p:txBody>
      </p:sp>
      <p:sp>
        <p:nvSpPr>
          <p:cNvPr id="2070398411" name="Textplatzhalter 82"/>
          <p:cNvSpPr>
            <a:spLocks noGrp="1"/>
          </p:cNvSpPr>
          <p:nvPr>
            <p:ph type="body" sz="quarter" idx="60" hasCustomPrompt="1"/>
          </p:nvPr>
        </p:nvSpPr>
        <p:spPr bwMode="auto"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461614121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692894828" name="Textplatzhalter 82"/>
          <p:cNvSpPr>
            <a:spLocks noGrp="1"/>
          </p:cNvSpPr>
          <p:nvPr>
            <p:ph type="body" sz="quarter" idx="61" hasCustomPrompt="1"/>
          </p:nvPr>
        </p:nvSpPr>
        <p:spPr bwMode="auto"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8</a:t>
            </a:r>
            <a:endParaRPr lang="en-CA"/>
          </a:p>
        </p:txBody>
      </p:sp>
      <p:sp>
        <p:nvSpPr>
          <p:cNvPr id="647697321" name="Textplatzhalter 82"/>
          <p:cNvSpPr>
            <a:spLocks noGrp="1"/>
          </p:cNvSpPr>
          <p:nvPr>
            <p:ph type="body" sz="quarter" idx="62" hasCustomPrompt="1"/>
          </p:nvPr>
        </p:nvSpPr>
        <p:spPr bwMode="auto"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white_single lin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213158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308061053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48824693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851414738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26.01.2026</a:t>
            </a:fld>
            <a:endParaRPr lang="en-CA"/>
          </a:p>
        </p:txBody>
      </p:sp>
      <p:sp>
        <p:nvSpPr>
          <p:cNvPr id="1632413469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741245038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539596255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739599462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620760594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117617870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998701433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1572571175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1022104066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364055617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441683279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102486575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1915381303" name="Textplatzhalter 82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888205999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1372499405" name="Textplatzhalter 8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485501555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422423427" name="Textplatzhalter 82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270019190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838009368" name="Rechteck 6"/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177385682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blue_2 lines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13384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9148147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61995847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26.01.2026</a:t>
            </a:fld>
            <a:endParaRPr lang="en-CA"/>
          </a:p>
        </p:txBody>
      </p:sp>
      <p:sp>
        <p:nvSpPr>
          <p:cNvPr id="207239089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32336249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124812344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61961881" name="Textplatzhalter 8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87853823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992966409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258195398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3919795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493864364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4223719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558196586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71102994" name="Textplatzhalter 8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1462677362" name="Textplatzhalter 8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702692281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850683463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1032351373" name="Textplatzhalter 8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blue_single lin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007470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200698363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74999296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598876536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184872734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26.01.2026</a:t>
            </a:fld>
            <a:endParaRPr lang="en-CA"/>
          </a:p>
        </p:txBody>
      </p:sp>
      <p:sp>
        <p:nvSpPr>
          <p:cNvPr id="389415323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48141918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894322863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2019456454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741139454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977944611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260517424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1846599553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33380821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hapter &amp; image whit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538487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657855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85845290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92126818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90772177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26.01.2026</a:t>
            </a:fld>
            <a:endParaRPr lang="en-CA"/>
          </a:p>
        </p:txBody>
      </p:sp>
      <p:sp>
        <p:nvSpPr>
          <p:cNvPr id="1332119907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525387812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&amp; imag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494274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52824105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46659353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002912293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33485223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26.01.2026</a:t>
            </a:fld>
            <a:endParaRPr lang="en-CA"/>
          </a:p>
        </p:txBody>
      </p:sp>
      <p:sp>
        <p:nvSpPr>
          <p:cNvPr id="143408784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00761862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155630167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slide arrow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5520804" name="Gruppieren 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8" name="Freihandform: Form 7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607098075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68973710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295249485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7500537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26.01.2026</a:t>
            </a:fld>
            <a:endParaRPr lang="en-CA"/>
          </a:p>
        </p:txBody>
      </p:sp>
      <p:sp>
        <p:nvSpPr>
          <p:cNvPr id="17886326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609806446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8791763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slide image">
    <p:bg>
      <p:bgPr shadeToTitle="0"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589145" name="Rechteck 6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891223939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47213703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573750151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05988654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26.01.2026</a:t>
            </a:fld>
            <a:endParaRPr lang="en-CA"/>
          </a:p>
        </p:txBody>
      </p:sp>
      <p:sp>
        <p:nvSpPr>
          <p:cNvPr id="213451204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03955671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34633554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&amp; Content whit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85841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9875721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59552644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8064362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07F064-BD39-4FE4-B9A2-7344DA85858F}" type="datetime1">
              <a:rPr lang="de-DE"/>
              <a:t>26.01.2026</a:t>
            </a:fld>
            <a:endParaRPr lang="en-CA"/>
          </a:p>
        </p:txBody>
      </p:sp>
      <p:sp>
        <p:nvSpPr>
          <p:cNvPr id="64938796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&amp; Content blue">
    <p:bg bwMode="auto"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01960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0099011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19895319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9874157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507F064-BD39-4FE4-B9A2-7344DA85858F}" type="datetime1">
              <a:rPr lang="de-DE"/>
              <a:t>26.01.2026</a:t>
            </a:fld>
            <a:endParaRPr lang="en-CA"/>
          </a:p>
        </p:txBody>
      </p:sp>
      <p:sp>
        <p:nvSpPr>
          <p:cNvPr id="178357172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86000752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9801738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3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076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2976452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446502436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18808628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8587807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5007313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3 image righ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32460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2986243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2536589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2601177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54778948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660451367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810926744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19161215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3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39715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52728334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125723943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6160238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29782118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76627134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3 image left blue">
    <p:bg>
      <p:bgPr shadeToTitle="0"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50122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70030127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76018277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071125089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0965956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45069627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735664945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737247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2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64385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8513824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8269877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34833340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040290848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83635027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2 image righ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22581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58525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53242246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49960860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8445212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95431108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62758084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2359912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2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55316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1423842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713850719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44233100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2734193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59198763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2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17129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3983830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2049297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906459154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5000692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47896801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302674617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7529742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05754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3506884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1950824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8675780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53087928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1487641729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46018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96727196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41097321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88711554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29875596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26.01.2026</a:t>
            </a:fld>
            <a:endParaRPr lang="en-CA"/>
          </a:p>
        </p:txBody>
      </p:sp>
      <p:sp>
        <p:nvSpPr>
          <p:cNvPr id="192705853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40873547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7229909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00676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1110341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00867377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4326368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57650722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83850329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38294051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57421335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with subheadlin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17393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2196878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29640132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48538936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12781409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0463" y="1485415"/>
            <a:ext cx="554354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221937339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1382467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752799658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2863862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475668527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3 contents + picture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300414" name="Rechteck 43"/>
          <p:cNvSpPr/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911187240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203034307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1143161024" name="Titel 46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29888032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From</a:t>
            </a:r>
            <a:endParaRPr/>
          </a:p>
        </p:txBody>
      </p:sp>
      <p:sp>
        <p:nvSpPr>
          <p:cNvPr id="36756003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782630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To</a:t>
            </a:r>
            <a:endParaRPr lang="en-CA"/>
          </a:p>
        </p:txBody>
      </p:sp>
      <p:sp>
        <p:nvSpPr>
          <p:cNvPr id="1216909212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68558205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Details</a:t>
            </a:r>
            <a:endParaRPr/>
          </a:p>
        </p:txBody>
      </p:sp>
      <p:sp>
        <p:nvSpPr>
          <p:cNvPr id="1975109277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70435903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14905358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90255907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white/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14635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44690815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3421447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7847020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27440445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4554666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513809385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96089210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69157952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blue/whit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48221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9633480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24638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67092422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28966796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240589768" name="Rechteck 5"/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42860092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2050057728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67853853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 box vertical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641360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01598684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2102974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50404346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8262962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80766419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47784061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48729066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32962492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 box horizontal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3337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93905930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23250897" name="Rectangle 8"/>
          <p:cNvSpPr/>
          <p:nvPr userDrawn="1"/>
        </p:nvSpPr>
        <p:spPr bwMode="auto"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254353872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1545870757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955442196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83781367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42053313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6835962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89883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159022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0460419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88747178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67722292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437119176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857752486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94037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46663340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53961849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63626282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34271214" name="Inhaltsplatzhalter 2"/>
          <p:cNvSpPr>
            <a:spLocks noGrp="1"/>
          </p:cNvSpPr>
          <p:nvPr>
            <p:ph sz="half" idx="15" hasCustomPrompt="1"/>
          </p:nvPr>
        </p:nvSpPr>
        <p:spPr bwMode="auto"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5410812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26.01.2026</a:t>
            </a:fld>
            <a:endParaRPr lang="en-CA"/>
          </a:p>
        </p:txBody>
      </p:sp>
      <p:sp>
        <p:nvSpPr>
          <p:cNvPr id="1323661330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54481577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6882983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79894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2448480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85053572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11434440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18967013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5608586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055583972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27477538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23951751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473098884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with subheadlin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44115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1568809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510396728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2214320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174806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67973940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03059978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99026851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69993788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639127778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776401957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89098886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3 contents_partially blue_icons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071298864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071298864" name="think-cell data - do not delete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146631911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70615082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8338670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123872695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713735250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97438460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00230118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590969127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54075519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4362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592823454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24742895" name="Oval 20"/>
          <p:cNvSpPr/>
          <p:nvPr userDrawn="1"/>
        </p:nvSpPr>
        <p:spPr bwMode="auto"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330172973" name="Oval 21"/>
          <p:cNvSpPr/>
          <p:nvPr userDrawn="1"/>
        </p:nvSpPr>
        <p:spPr bwMode="auto"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080945298" name="Oval 23"/>
          <p:cNvSpPr/>
          <p:nvPr userDrawn="1"/>
        </p:nvSpPr>
        <p:spPr bwMode="auto"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72818729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5042639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21463079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_partially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36458646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336458646" name="think-cell data - do not delete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99263759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29949592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83862321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614148957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578073550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42333789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72207955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21687701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456520908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7893872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51338178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145934666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627070226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+ picture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648675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12383560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87886070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486583187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320519187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60618974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9323402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052842780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75881479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88166803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60657441" name="Date Placeholder 8"/>
          <p:cNvSpPr>
            <a:spLocks noGrp="1"/>
          </p:cNvSpPr>
          <p:nvPr>
            <p:ph type="dt" sz="half" idx="25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E70D4B-E00F-4E3D-9749-2A3BEC2D17A1}" type="datetime1">
              <a:rPr lang="de-DE"/>
              <a:t>26.01.2026</a:t>
            </a:fld>
            <a:endParaRPr lang="en-CA"/>
          </a:p>
        </p:txBody>
      </p:sp>
      <p:sp>
        <p:nvSpPr>
          <p:cNvPr id="717090089" name="Slide Number Placeholder 11"/>
          <p:cNvSpPr>
            <a:spLocks noGrp="1"/>
          </p:cNvSpPr>
          <p:nvPr>
            <p:ph type="sldNum" sz="quarter" idx="26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12699210" name="Textfeld 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image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12425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134286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80073403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843108A-4CEC-450F-9F79-7958F0401B7E}" type="datetime1">
              <a:rPr lang="de-DE"/>
              <a:t>26.01.2026</a:t>
            </a:fld>
            <a:endParaRPr lang="en-CA"/>
          </a:p>
        </p:txBody>
      </p:sp>
      <p:sp>
        <p:nvSpPr>
          <p:cNvPr id="456095396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32150452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91082944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3257123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664196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808845856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06984699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55095126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16355282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99201149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image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55752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10393028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65942360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843108A-4CEC-450F-9F79-7958F0401B7E}" type="datetime1">
              <a:rPr lang="de-DE"/>
              <a:t>26.01.2026</a:t>
            </a:fld>
            <a:endParaRPr lang="en-CA"/>
          </a:p>
        </p:txBody>
      </p:sp>
      <p:sp>
        <p:nvSpPr>
          <p:cNvPr id="544567906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14802749" name="Textfeld 4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7482384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18610756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741508671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437778662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599316021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5696009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051090322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101284912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10356011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13747679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1/3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56111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6342474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4162276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60079656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78728039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2058407440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202361596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95568601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235401355" name="Text Placeholder 3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077381066" name="Text Placeholder 32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883873466" name="Text Placeholder 3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744994907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583322228" name="Text Placeholder 3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059000007" name="Text Placeholder 3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097358605" name="Text Placeholder 3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284396515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605627277" name="Text Placeholder 3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581370932" name="Text Placeholder 32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77970289" name="Text Placeholder 3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54818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7861845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48328643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29113289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612251818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331026085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790101766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836867198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600806480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993366778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1/3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90391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7721080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7313067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56861016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463353422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13605293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81156464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011306801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679384411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764559520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73565934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470519205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losing slide_arrow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0182587" name="Gruppieren 1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9" name="Freihandform: Form 8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689998349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471490762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64074988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20365918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Enabling</a:t>
            </a:r>
            <a:r>
              <a:rPr lang="de-DE"/>
              <a:t> </a:t>
            </a:r>
            <a:r>
              <a:rPr lang="de-DE"/>
              <a:t>you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shape</a:t>
            </a:r>
            <a:r>
              <a:rPr lang="de-DE"/>
              <a:t> a </a:t>
            </a:r>
            <a:r>
              <a:rPr lang="de-DE"/>
              <a:t>better</a:t>
            </a:r>
            <a:r>
              <a:rPr lang="de-DE"/>
              <a:t> </a:t>
            </a:r>
            <a:r>
              <a:rPr lang="de-DE"/>
              <a:t>tomorrow</a:t>
            </a:r>
            <a:endParaRPr lang="en-CA"/>
          </a:p>
        </p:txBody>
      </p:sp>
      <p:sp>
        <p:nvSpPr>
          <p:cNvPr id="916589283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868162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439120925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1741831936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1110560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5979578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We</a:t>
            </a:r>
            <a:r>
              <a:rPr lang="de-DE"/>
              <a:t> </a:t>
            </a:r>
            <a:r>
              <a:rPr lang="de-DE"/>
              <a:t>create</a:t>
            </a:r>
            <a:r>
              <a:rPr lang="de-DE"/>
              <a:t> digital </a:t>
            </a:r>
            <a:r>
              <a:rPr lang="de-DE"/>
              <a:t>futures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sustainable</a:t>
            </a:r>
            <a:r>
              <a:rPr lang="de-DE"/>
              <a:t> </a:t>
            </a:r>
            <a:r>
              <a:rPr lang="de-DE"/>
              <a:t>impact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717698596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Mockup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840469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60934719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71959247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55244968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2074183668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59502848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7767583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48731035" name="Text Placeholder 60"/>
          <p:cNvSpPr>
            <a:spLocks noGrp="1"/>
          </p:cNvSpPr>
          <p:nvPr>
            <p:ph type="body" sz="quarter" idx="32"/>
          </p:nvPr>
        </p:nvSpPr>
        <p:spPr bwMode="auto"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80833744" name="Picture Placeholder 68"/>
          <p:cNvSpPr>
            <a:spLocks noGrp="1"/>
          </p:cNvSpPr>
          <p:nvPr>
            <p:ph type="pic" sz="quarter" idx="34"/>
          </p:nvPr>
        </p:nvSpPr>
        <p:spPr bwMode="auto"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13955723" name="Textplatzhalter 52"/>
          <p:cNvSpPr>
            <a:spLocks noGrp="1"/>
          </p:cNvSpPr>
          <p:nvPr>
            <p:ph type="body" sz="quarter" idx="20"/>
          </p:nvPr>
        </p:nvSpPr>
        <p:spPr bwMode="auto"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1482700847" name="Text Placeholder 60"/>
          <p:cNvSpPr>
            <a:spLocks noGrp="1"/>
          </p:cNvSpPr>
          <p:nvPr>
            <p:ph type="body" sz="quarter" idx="38"/>
          </p:nvPr>
        </p:nvSpPr>
        <p:spPr bwMode="auto"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sp>
        <p:nvSpPr>
          <p:cNvPr id="1827749356" name="Picture Placeholder 68"/>
          <p:cNvSpPr>
            <a:spLocks noGrp="1"/>
          </p:cNvSpPr>
          <p:nvPr>
            <p:ph type="pic" sz="quarter" idx="35"/>
          </p:nvPr>
        </p:nvSpPr>
        <p:spPr bwMode="auto"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93669290" name="Textplatzhalter 52"/>
          <p:cNvSpPr>
            <a:spLocks noGrp="1"/>
          </p:cNvSpPr>
          <p:nvPr>
            <p:ph type="body" sz="quarter" idx="28"/>
          </p:nvPr>
        </p:nvSpPr>
        <p:spPr bwMode="auto"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856645366" name="Text Placeholder 60"/>
          <p:cNvSpPr>
            <a:spLocks noGrp="1"/>
          </p:cNvSpPr>
          <p:nvPr>
            <p:ph type="body" sz="quarter" idx="39"/>
          </p:nvPr>
        </p:nvSpPr>
        <p:spPr bwMode="auto"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1617922259" name="Grafik 58"/>
          <p:cNvPicPr>
            <a:picLocks noChangeAspect="1"/>
          </p:cNvPicPr>
          <p:nvPr userDrawn="1"/>
        </p:nvPicPr>
        <p:blipFill rotWithShape="1">
          <a:blip r:embed="rId2"/>
          <a:srcRect l="9746" t="10016" r="9733" b="12093"/>
          <a:stretch/>
        </p:blipFill>
        <p:spPr bwMode="auto"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34615341" name="Grafik 58"/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 bwMode="auto"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1081143732" name="Picture Placeholder 68"/>
          <p:cNvSpPr>
            <a:spLocks noGrp="1"/>
          </p:cNvSpPr>
          <p:nvPr>
            <p:ph type="pic" sz="quarter" idx="36"/>
          </p:nvPr>
        </p:nvSpPr>
        <p:spPr bwMode="auto"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88236740" name="Textplatzhalter 52"/>
          <p:cNvSpPr>
            <a:spLocks noGrp="1"/>
          </p:cNvSpPr>
          <p:nvPr>
            <p:ph type="body" sz="quarter" idx="37"/>
          </p:nvPr>
        </p:nvSpPr>
        <p:spPr bwMode="auto"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65598280" name="Text Placeholder 60"/>
          <p:cNvSpPr>
            <a:spLocks noGrp="1"/>
          </p:cNvSpPr>
          <p:nvPr>
            <p:ph type="body" sz="quarter" idx="40"/>
          </p:nvPr>
        </p:nvSpPr>
        <p:spPr bwMode="auto"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866665877" name="Grafik 58"/>
          <p:cNvPicPr>
            <a:picLocks noChangeAspect="1"/>
          </p:cNvPicPr>
          <p:nvPr userDrawn="1"/>
        </p:nvPicPr>
        <p:blipFill rotWithShape="1">
          <a:blip r:embed="rId2"/>
          <a:srcRect l="12811" t="9091" r="6230" b="13019"/>
          <a:stretch/>
        </p:blipFill>
        <p:spPr bwMode="auto">
          <a:xfrm>
            <a:off x="8584850" y="2050196"/>
            <a:ext cx="2764146" cy="3012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4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99519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2097256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04393628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855736466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424953481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170839733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31668917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94612978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20137673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6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61930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1733544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1479924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827386190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2058390923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144234740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25126329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197950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91678597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84275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0531518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674368814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452625219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689157095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53294050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75687587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pic>
        <p:nvPicPr>
          <p:cNvPr id="622483965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642608065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2715737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8901833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cxnSp>
        <p:nvCxnSpPr>
          <p:cNvPr id="866590142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0953256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7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90232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825326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92625287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2146949835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591692466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324691416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873296010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714260752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2799485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39158435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cxnSp>
        <p:nvCxnSpPr>
          <p:cNvPr id="488037491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1465374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686678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Rectangle 21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8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95747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5843152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3836399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71919231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69275792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65911946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78386352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38439194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fill="norm" stroke="1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</a:t>
            </a:r>
            <a:endParaRPr/>
          </a:p>
        </p:txBody>
      </p:sp>
      <p:pic>
        <p:nvPicPr>
          <p:cNvPr id="1978284229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1956248682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1615898306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fill="norm" stroke="1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</a:t>
            </a:r>
            <a:endParaRPr/>
          </a:p>
        </p:txBody>
      </p:sp>
      <p:grpSp>
        <p:nvGrpSpPr>
          <p:cNvPr id="207592398" name="Gruppieren 14"/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" name="Rectangle 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7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4079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1557595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93267810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491720624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7924927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4092611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957111487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259306605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1894558831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fill="norm" stroke="1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 </a:t>
            </a:r>
            <a:endParaRPr/>
          </a:p>
        </p:txBody>
      </p:sp>
      <p:pic>
        <p:nvPicPr>
          <p:cNvPr id="1465054888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883332720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fill="norm" stroke="1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 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1543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96209438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19279379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44446654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6953418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47704110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21814324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696354665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9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15831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5992962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55289831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727293884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32434927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68065059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054625838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32350900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0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04879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9554712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45181281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153179823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91854434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34670025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77803056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899504712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350543277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2365276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Rectangle 17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5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3881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2666198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16268829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44561493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37870483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16470025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10172571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46834543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2034502009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62439321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2 contents white/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52639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55788209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4334384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63566541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2079471375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48664159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62081614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9657238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92934823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871360822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pic>
        <p:nvPicPr>
          <p:cNvPr id="1226872542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580672040" name="Textplatzhalter 5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14341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502311843" name="Inhaltsplatzhalter 2"/>
          <p:cNvSpPr>
            <a:spLocks noGrp="1"/>
          </p:cNvSpPr>
          <p:nvPr>
            <p:ph idx="21" hasCustomPrompt="1"/>
          </p:nvPr>
        </p:nvSpPr>
        <p:spPr bwMode="auto"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image" Target="../media/image1.emf"/><Relationship Id="rId58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676954524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58" imgW="0" imgH="0" progId="TCLayout.ActiveDocument.1">
              <p:embed/>
              <p:pic>
                <p:nvPicPr>
                  <p:cNvPr id="676954524" name="think-cell data - do not delete" hidden="1"/>
                  <p:cNvPicPr/>
                  <p:nvPr/>
                </p:nvPicPr>
                <p:blipFill rotWithShape="1">
                  <a:blip r:embed="rId57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124062150" name="Titelplatzhalter 1"/>
          <p:cNvSpPr>
            <a:spLocks noGrp="1"/>
          </p:cNvSpPr>
          <p:nvPr>
            <p:ph type="title"/>
          </p:nvPr>
        </p:nvSpPr>
        <p:spPr bwMode="auto"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03293112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50002437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dt="1" ftr="0" hdr="0" sldNum="1"/>
  <p:txStyles>
    <p:titleStyle>
      <a:lvl1pPr algn="l" defTabSz="914400" rtl="0">
        <a:lnSpc>
          <a:spcPct val="100000"/>
        </a:lnSpc>
        <a:spcBef>
          <a:spcPts val="0"/>
        </a:spcBef>
        <a:buNone/>
        <a:defRPr sz="24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044054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6931" cy="609959"/>
          </a:xfrm>
        </p:spPr>
        <p:txBody>
          <a:bodyPr/>
          <a:lstStyle/>
          <a:p>
            <a:pPr>
              <a:defRPr/>
            </a:pPr>
            <a:r>
              <a:rPr lang="de-DE" sz="4000"/>
              <a:t>Backup &amp; Recovery</a:t>
            </a:r>
            <a:endParaRPr/>
          </a:p>
        </p:txBody>
      </p:sp>
      <p:sp>
        <p:nvSpPr>
          <p:cNvPr id="1144538029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jeder Welle mit Recovery-Option</a:t>
            </a:r>
            <a:endParaRPr lang="en-US"/>
          </a:p>
        </p:txBody>
      </p:sp>
      <p:sp>
        <p:nvSpPr>
          <p:cNvPr id="959051757" name="Text Placeholder 7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86771" y="1265073"/>
            <a:ext cx="11071827" cy="216392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Nach einem Angriff mit entstandenem Schaden prüft ihr, ob Systeme wiederhergestellt werden müssen oder ob der Betrieb stabil geblieben ist. Falls überhaupt ein Schaden entstanden ist, entscheidet eure Backup- und Recovery-Fähigkeit darüber, wie stark ihr den finanziellen Impact senken könnt.</a:t>
            </a:r>
            <a:r>
              <a:rPr lang="de-DE" sz="2800"/>
              <a:t> Prüft die Umsetzung von M4.</a:t>
            </a:r>
            <a:endParaRPr/>
          </a:p>
        </p:txBody>
      </p:sp>
      <p:sp>
        <p:nvSpPr>
          <p:cNvPr id="2926305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223326084" name="Text Placeholder 8"/>
          <p:cNvSpPr txBox="1"/>
          <p:nvPr/>
        </p:nvSpPr>
        <p:spPr bwMode="auto">
          <a:xfrm flipH="0" flipV="0">
            <a:off x="606438" y="3866029"/>
            <a:ext cx="10226550" cy="228475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Keine Umsetzung: kein Recovery → Endschaden = 100%</a:t>
            </a:r>
            <a:endParaRPr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1: Basis-Recovery → End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schaden = Schaden × 0,90</a:t>
            </a:r>
            <a:endParaRPr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2: teilw. Recovery → Endschaden = Schaden × 0,70</a:t>
            </a:r>
            <a:endParaRPr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3: starke Recovery → Endschaden = Schaden × 0,50</a:t>
            </a:r>
            <a:endParaRPr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37238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5491" cy="609959"/>
          </a:xfrm>
        </p:spPr>
        <p:txBody>
          <a:bodyPr/>
          <a:lstStyle/>
          <a:p>
            <a:pPr>
              <a:defRPr/>
            </a:pPr>
            <a:r>
              <a:rPr lang="de-DE" sz="4000"/>
              <a:t>Kurswechsel</a:t>
            </a:r>
            <a:endParaRPr/>
          </a:p>
        </p:txBody>
      </p:sp>
      <p:sp>
        <p:nvSpPr>
          <p:cNvPr id="1271768714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1</a:t>
            </a:r>
            <a:endParaRPr lang="en-US"/>
          </a:p>
        </p:txBody>
      </p:sp>
      <p:sp>
        <p:nvSpPr>
          <p:cNvPr id="22251555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1" y="1265073"/>
            <a:ext cx="11071827" cy="116697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Nach den neuesten Erkenntnissen entscheidet die Geschäftsführung: Eure Sicherheitsstrategie wird neu ausgerichtet. Ihr müsst euer Setup anpassen, könnt aber bestehende Investitionen teilweise weiterverwenden. Daher zählt nur die Kostendifferenz.</a:t>
            </a:r>
            <a:endParaRPr/>
          </a:p>
        </p:txBody>
      </p:sp>
      <p:sp>
        <p:nvSpPr>
          <p:cNvPr id="19346279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606438" y="3835718"/>
            <a:ext cx="10874360" cy="116697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Ihr müsst genau einen Maßnahmenwechsel durchführen</a:t>
            </a:r>
            <a:r>
              <a:rPr lang="de-DE" sz="2400"/>
              <a:t>.</a:t>
            </a:r>
            <a:endParaRPr lang="de-DE" sz="2400"/>
          </a:p>
          <a:p>
            <a:pPr>
              <a:spcAft>
                <a:spcPts val="0"/>
              </a:spcAft>
              <a:defRPr/>
            </a:pPr>
            <a:r>
              <a:rPr lang="de-DE" sz="2400"/>
              <a:t>Die Differenz der Init-Kosten muss gezahlt werden oder wird „erstattet“</a:t>
            </a:r>
            <a:r>
              <a:rPr lang="de-DE" sz="2400"/>
              <a:t>.</a:t>
            </a:r>
            <a:endParaRPr lang="en-US" sz="2400"/>
          </a:p>
        </p:txBody>
      </p:sp>
      <p:sp>
        <p:nvSpPr>
          <p:cNvPr id="181086022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5795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4771" cy="609959"/>
          </a:xfrm>
        </p:spPr>
        <p:txBody>
          <a:bodyPr/>
          <a:lstStyle/>
          <a:p>
            <a:pPr>
              <a:defRPr/>
            </a:pPr>
            <a:r>
              <a:rPr lang="de-DE" sz="4000" b="0" i="0" u="none" strike="noStrike" cap="none" spc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operative Unterstützung</a:t>
            </a:r>
            <a:endParaRPr/>
          </a:p>
        </p:txBody>
      </p:sp>
      <p:sp>
        <p:nvSpPr>
          <p:cNvPr id="1452495990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1</a:t>
            </a:r>
            <a:endParaRPr lang="en-US"/>
          </a:p>
        </p:txBody>
      </p:sp>
      <p:sp>
        <p:nvSpPr>
          <p:cNvPr id="16575493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1" y="1265073"/>
            <a:ext cx="11071827" cy="116697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Ihr bekommt operative Unterstützung: Ein zentraler Rahmenvertrag bzw. Shared-Service senkt kurzfristig die laufenden Betriebskosten eurer Security-Maßnahmen. Für die nächste Runde wird der Betrieb günstiger, ohne dass ihr an Leistung verliert</a:t>
            </a:r>
            <a:r>
              <a:rPr lang="de-DE" sz="2800"/>
              <a:t>.</a:t>
            </a:r>
            <a:endParaRPr/>
          </a:p>
        </p:txBody>
      </p:sp>
      <p:sp>
        <p:nvSpPr>
          <p:cNvPr id="441719939" name="Text Placeholder 8"/>
          <p:cNvSpPr>
            <a:spLocks noGrp="1"/>
          </p:cNvSpPr>
          <p:nvPr>
            <p:ph type="body" sz="quarter" idx="17"/>
          </p:nvPr>
        </p:nvSpPr>
        <p:spPr bwMode="auto">
          <a:xfrm flipH="0" flipV="0">
            <a:off x="586771" y="3717436"/>
            <a:ext cx="10874360" cy="610097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Zählt für jede bestehende Maßnahme in der kommenden Runde</a:t>
            </a:r>
            <a:endParaRPr lang="en-US" sz="2400"/>
          </a:p>
        </p:txBody>
      </p:sp>
      <p:sp>
        <p:nvSpPr>
          <p:cNvPr id="909543970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508349095" name="Text Placeholder 8"/>
          <p:cNvSpPr txBox="1"/>
          <p:nvPr/>
        </p:nvSpPr>
        <p:spPr bwMode="auto">
          <a:xfrm flipH="0" flipV="0">
            <a:off x="606438" y="4867102"/>
            <a:ext cx="7462433" cy="70899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OPEX Kosten −2.000 € pro aktiver Maßnahme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265537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1171" cy="609959"/>
          </a:xfrm>
        </p:spPr>
        <p:txBody>
          <a:bodyPr/>
          <a:lstStyle/>
          <a:p>
            <a:pPr>
              <a:defRPr/>
            </a:pPr>
            <a:r>
              <a:rPr lang="de-DE" sz="4000" b="0" i="0" u="none" strike="noStrike" cap="none" spc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Sparprogramm</a:t>
            </a:r>
            <a:endParaRPr/>
          </a:p>
        </p:txBody>
      </p:sp>
      <p:sp>
        <p:nvSpPr>
          <p:cNvPr id="566799541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538"/>
            <a:ext cx="1002669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2</a:t>
            </a:r>
            <a:endParaRPr lang="en-US"/>
          </a:p>
        </p:txBody>
      </p:sp>
      <p:sp>
        <p:nvSpPr>
          <p:cNvPr id="33547926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1" y="1265073"/>
            <a:ext cx="11071827" cy="116697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Der CFO verkündet ein konzernweites Sparprogramm, und auch eure Security-Initiativen bleiben nicht verschont. Das Budget wird gekürzt</a:t>
            </a:r>
            <a:r>
              <a:rPr lang="de-DE" sz="2800"/>
              <a:t>.</a:t>
            </a:r>
            <a:endParaRPr/>
          </a:p>
        </p:txBody>
      </p:sp>
      <p:sp>
        <p:nvSpPr>
          <p:cNvPr id="1352229100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146678004" name="Text Placeholder 8"/>
          <p:cNvSpPr txBox="1"/>
          <p:nvPr/>
        </p:nvSpPr>
        <p:spPr bwMode="auto">
          <a:xfrm flipH="0" flipV="0">
            <a:off x="606438" y="3866028"/>
            <a:ext cx="10226550" cy="2284753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Gesamtbudget −20.000 €</a:t>
            </a:r>
            <a:endParaRPr sz="2400" b="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714887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OEM-Audit</a:t>
            </a:r>
            <a:endParaRPr/>
          </a:p>
        </p:txBody>
      </p:sp>
      <p:sp>
        <p:nvSpPr>
          <p:cNvPr id="1032333692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2</a:t>
            </a:r>
            <a:endParaRPr lang="en-US"/>
          </a:p>
        </p:txBody>
      </p:sp>
      <p:sp>
        <p:nvSpPr>
          <p:cNvPr id="1322211094" name="Text Placeholder 7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86771" y="1265073"/>
            <a:ext cx="11071827" cy="1393210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Der große Automobilkunde prüft die Sicherheitsstandards. </a:t>
            </a: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Im Audit zählt nicht, ob ihr „Best-in-Class“ seid - sondern ob ihr die grundlegenden Kontrollen überhaupt verlässlich umgesetzt habt. </a:t>
            </a:r>
            <a:endParaRPr/>
          </a:p>
        </p:txBody>
      </p:sp>
      <p:sp>
        <p:nvSpPr>
          <p:cNvPr id="680727676" name="Text Placeholder 8"/>
          <p:cNvSpPr>
            <a:spLocks noGrp="1"/>
          </p:cNvSpPr>
          <p:nvPr>
            <p:ph type="body" sz="quarter" idx="17"/>
          </p:nvPr>
        </p:nvSpPr>
        <p:spPr bwMode="auto">
          <a:xfrm flipH="0" flipV="0">
            <a:off x="606438" y="3342972"/>
            <a:ext cx="5713070" cy="2670850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Audit Checkliste (mindestens auf Level 1):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M1 IAM/PAM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M2 Logging &amp; SIEM/MDR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M4 Backup &amp; Disaster Recovery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M5 OT/IT-Netz-Segmentierung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M7 Vulnerability &amp; Patch Management</a:t>
            </a:r>
            <a:endParaRPr lang="en-US" sz="2400"/>
          </a:p>
        </p:txBody>
      </p:sp>
      <p:sp>
        <p:nvSpPr>
          <p:cNvPr id="776644786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941448651" name="TextBox 41"/>
          <p:cNvSpPr txBox="1"/>
          <p:nvPr/>
        </p:nvSpPr>
        <p:spPr bwMode="auto">
          <a:xfrm>
            <a:off x="517316" y="2658284"/>
            <a:ext cx="3016018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Bedingung</a:t>
            </a: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 </a:t>
            </a: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erfüllt</a:t>
            </a: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:</a:t>
            </a:r>
            <a:endParaRPr/>
          </a:p>
        </p:txBody>
      </p:sp>
      <p:sp>
        <p:nvSpPr>
          <p:cNvPr id="223787650" name="TextBox 41"/>
          <p:cNvSpPr txBox="1"/>
          <p:nvPr/>
        </p:nvSpPr>
        <p:spPr bwMode="auto">
          <a:xfrm>
            <a:off x="6564333" y="2658284"/>
            <a:ext cx="2097538" cy="51851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de-DE" sz="2800">
                <a:solidFill>
                  <a:schemeClr val="accent1"/>
                </a:solidFill>
                <a:ea typeface="League Spartan"/>
                <a:cs typeface="Poppins"/>
              </a:rPr>
              <a:t>Auswirkung</a:t>
            </a: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:</a:t>
            </a:r>
            <a:endParaRPr/>
          </a:p>
        </p:txBody>
      </p:sp>
      <p:sp>
        <p:nvSpPr>
          <p:cNvPr id="470945052" name="Text Placeholder 8"/>
          <p:cNvSpPr>
            <a:spLocks noGrp="1"/>
          </p:cNvSpPr>
          <p:nvPr/>
        </p:nvSpPr>
        <p:spPr bwMode="auto">
          <a:xfrm flipH="0" flipV="0">
            <a:off x="6564333" y="3342972"/>
            <a:ext cx="4954074" cy="2670849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/>
              <a:t>0 erfüllt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/>
              <a:t> KZ -15</a:t>
            </a:r>
            <a:endParaRPr lang="de-DE"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erfüllt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KZ -5</a:t>
            </a:r>
            <a:endParaRPr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2-3 erfüllt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KZ +-0</a:t>
            </a:r>
            <a:endParaRPr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erfüllt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KZ +5</a:t>
            </a:r>
            <a:endParaRPr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 erfüllt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KZ +15</a:t>
            </a:r>
            <a:endParaRPr sz="2400"/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600101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67011" cy="609959"/>
          </a:xfrm>
        </p:spPr>
        <p:txBody>
          <a:bodyPr/>
          <a:lstStyle/>
          <a:p>
            <a:pPr>
              <a:defRPr/>
            </a:pPr>
            <a:r>
              <a:rPr lang="de-DE" sz="4000" b="0" i="0" u="none" strike="noStrike" cap="none" spc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Kritische Schwachstelle</a:t>
            </a:r>
            <a:r>
              <a:rPr lang="de-DE" sz="4000"/>
              <a:t> im System</a:t>
            </a:r>
            <a:endParaRPr/>
          </a:p>
        </p:txBody>
      </p:sp>
      <p:sp>
        <p:nvSpPr>
          <p:cNvPr id="366660656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538"/>
            <a:ext cx="1002669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2</a:t>
            </a:r>
            <a:endParaRPr lang="en-US"/>
          </a:p>
        </p:txBody>
      </p:sp>
      <p:sp>
        <p:nvSpPr>
          <p:cNvPr id="1762070562" name="Text Placeholder 7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86771" y="1265073"/>
            <a:ext cx="11071827" cy="216392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Ihr werdet von einem Softwarehersteller informiert: In einem von euch genutzten System wurde eine kritische Schwachstelle entdeckt, die aktiv ausgenutzt werden könnte. Prüft die Umsetzung von M7. </a:t>
            </a:r>
            <a:endParaRPr/>
          </a:p>
        </p:txBody>
      </p:sp>
      <p:sp>
        <p:nvSpPr>
          <p:cNvPr id="1041559245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452461958" name="Text Placeholder 8"/>
          <p:cNvSpPr txBox="1"/>
          <p:nvPr/>
        </p:nvSpPr>
        <p:spPr bwMode="auto">
          <a:xfrm flipH="0" flipV="0">
            <a:off x="606438" y="3866029"/>
            <a:ext cx="10226550" cy="2284754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Keine Umsetzung (L0): Patch verzögert/chaotisch → KZ −5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1: Patch gelingt, aber mit Reibung → KZ ±0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2: Patch planbar und zügig → KZ +3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marR="0" indent="-34996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Level 3: Patch routiniert, mit Nachweis/Reporting → KZ +7</a:t>
            </a:r>
            <a:endParaRPr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330869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1171" cy="609959"/>
          </a:xfrm>
        </p:spPr>
        <p:txBody>
          <a:bodyPr/>
          <a:lstStyle/>
          <a:p>
            <a:pPr>
              <a:defRPr/>
            </a:pPr>
            <a:r>
              <a:rPr lang="de-DE" sz="4000" b="0" i="0" u="none" strike="noStrike" cap="none" spc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Exzellenz-Bonus</a:t>
            </a:r>
            <a:endParaRPr/>
          </a:p>
        </p:txBody>
      </p:sp>
      <p:sp>
        <p:nvSpPr>
          <p:cNvPr id="1397855500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3</a:t>
            </a:r>
            <a:endParaRPr lang="en-US"/>
          </a:p>
        </p:txBody>
      </p:sp>
      <p:sp>
        <p:nvSpPr>
          <p:cNvPr id="34923704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1" y="1265073"/>
            <a:ext cx="11071827" cy="116697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Maßnahmen, die nachweislich „enterprise-ready“ umgesetzt sind, erhöhen das Vertrauen. Für jede auf höchstem Niveau betriebene Kontrolle gibt es einen Bonus auf eure Kundenzufriedenheit.</a:t>
            </a:r>
            <a:endParaRPr/>
          </a:p>
        </p:txBody>
      </p:sp>
      <p:sp>
        <p:nvSpPr>
          <p:cNvPr id="848093002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606438" y="3057532"/>
            <a:ext cx="10874360" cy="116697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Für jede Maßnahme auf Level 3 erhaltet ihr +5 KZ.</a:t>
            </a:r>
            <a:endParaRPr lang="en-US" sz="2400"/>
          </a:p>
        </p:txBody>
      </p:sp>
      <p:sp>
        <p:nvSpPr>
          <p:cNvPr id="993671675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800219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9811" cy="609959"/>
          </a:xfrm>
        </p:spPr>
        <p:txBody>
          <a:bodyPr/>
          <a:lstStyle/>
          <a:p>
            <a:pPr>
              <a:defRPr/>
            </a:pPr>
            <a:r>
              <a:rPr lang="de-DE" sz="4000"/>
              <a:t>Nervige Authentifizierung</a:t>
            </a:r>
            <a:endParaRPr/>
          </a:p>
        </p:txBody>
      </p:sp>
      <p:sp>
        <p:nvSpPr>
          <p:cNvPr id="71577307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3</a:t>
            </a:r>
            <a:endParaRPr lang="en-US"/>
          </a:p>
        </p:txBody>
      </p:sp>
      <p:sp>
        <p:nvSpPr>
          <p:cNvPr id="1617378596" name="Text Placeholder 7"/>
          <p:cNvSpPr>
            <a:spLocks noGrp="1"/>
          </p:cNvSpPr>
          <p:nvPr>
            <p:ph type="body" sz="quarter" idx="14"/>
          </p:nvPr>
        </p:nvSpPr>
        <p:spPr bwMode="auto">
          <a:xfrm flipH="0" flipV="0">
            <a:off x="586771" y="1265073"/>
            <a:ext cx="11071827" cy="1903700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Ihr zieht die Zugriffskontrollen an, aber die Belegschaft wurde nicht vorbereitet. Die Folge sind viele Support-Tickets und Frust - intern entsteht der Eindruck, dass Security die Arbeit blockiert.</a:t>
            </a:r>
            <a:endParaRPr lang="de-DE" sz="2800" b="0" i="0" u="none" strike="noStrike" cap="none" spc="0">
              <a:solidFill>
                <a:schemeClr val="accent2"/>
              </a:solidFill>
              <a:latin typeface="Segoe UI"/>
              <a:cs typeface="Segoe UI"/>
            </a:endParaRPr>
          </a:p>
        </p:txBody>
      </p:sp>
      <p:sp>
        <p:nvSpPr>
          <p:cNvPr id="142873362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606438" y="3429000"/>
            <a:ext cx="10874360" cy="116697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Wenn M1 ≥ Level 2 und M6 = Level 0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KZ -10</a:t>
            </a:r>
            <a:endParaRPr lang="en-US" sz="2400"/>
          </a:p>
        </p:txBody>
      </p:sp>
      <p:sp>
        <p:nvSpPr>
          <p:cNvPr id="1017735372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050454" name="Title 2"/>
          <p:cNvSpPr>
            <a:spLocks noGrp="1"/>
          </p:cNvSpPr>
          <p:nvPr>
            <p:ph type="title"/>
          </p:nvPr>
        </p:nvSpPr>
        <p:spPr bwMode="auto">
          <a:xfrm>
            <a:off x="432820" y="352562"/>
            <a:ext cx="10055491" cy="609959"/>
          </a:xfrm>
        </p:spPr>
        <p:txBody>
          <a:bodyPr/>
          <a:lstStyle/>
          <a:p>
            <a:pPr>
              <a:defRPr/>
            </a:pPr>
            <a:r>
              <a:rPr lang="de-DE" sz="4000"/>
              <a:t>Budget Review</a:t>
            </a:r>
            <a:endParaRPr/>
          </a:p>
        </p:txBody>
      </p:sp>
      <p:sp>
        <p:nvSpPr>
          <p:cNvPr id="1907039541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0" y="221178"/>
            <a:ext cx="10026336" cy="152759"/>
          </a:xfrm>
        </p:spPr>
        <p:txBody>
          <a:bodyPr/>
          <a:lstStyle/>
          <a:p>
            <a:pPr>
              <a:defRPr/>
            </a:pPr>
            <a:r>
              <a:rPr lang="en-US"/>
              <a:t>Event: </a:t>
            </a:r>
            <a:r>
              <a:rPr lang="de-DE"/>
              <a:t>Nach Welle 3</a:t>
            </a:r>
            <a:endParaRPr lang="en-US"/>
          </a:p>
        </p:txBody>
      </p:sp>
      <p:sp>
        <p:nvSpPr>
          <p:cNvPr id="39313029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1" y="1265073"/>
            <a:ext cx="11071827" cy="1166975"/>
          </a:xfrm>
        </p:spPr>
        <p:txBody>
          <a:bodyPr anchor="t"/>
          <a:lstStyle/>
          <a:p>
            <a:pPr>
              <a:defRPr/>
            </a:pPr>
            <a:r>
              <a:rPr lang="de-DE" sz="28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Nach Abschluss eurer Beauftragung macht der CFO den Kassensturz: Nicht nur das Sicherheitsniveau zählt, sondern auch, ob ihr das Budget im Griff hattet.</a:t>
            </a:r>
            <a:endParaRPr/>
          </a:p>
        </p:txBody>
      </p:sp>
      <p:sp>
        <p:nvSpPr>
          <p:cNvPr id="974914400" name="Text Placeholder 8"/>
          <p:cNvSpPr>
            <a:spLocks noGrp="1"/>
          </p:cNvSpPr>
          <p:nvPr>
            <p:ph type="body" sz="quarter" idx="17"/>
          </p:nvPr>
        </p:nvSpPr>
        <p:spPr bwMode="auto">
          <a:xfrm flipH="0" flipV="0">
            <a:off x="606438" y="3057532"/>
            <a:ext cx="10874360" cy="3316889"/>
          </a:xfr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Prüft euer Restbudget</a:t>
            </a:r>
            <a:r>
              <a:rPr lang="de-DE" sz="2400"/>
              <a:t>.</a:t>
            </a:r>
            <a:endParaRPr lang="de-DE" sz="2400"/>
          </a:p>
          <a:p>
            <a:pPr marL="349965" indent="-349965"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Restbudget &lt; 0 € → KZ −15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indent="-349965"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0–25.000 € → KZ ±0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indent="-349965"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25.001–50.000 € → KZ +5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indent="-349965"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50.001–75.000 € → KZ +10</a:t>
            </a:r>
            <a:endParaRPr lang="de-DE" sz="2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349965" indent="-349965"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≥ 75.001 € → KZ +15</a:t>
            </a:r>
            <a:endParaRPr lang="en-US" sz="2400"/>
          </a:p>
        </p:txBody>
      </p:sp>
      <p:sp>
        <p:nvSpPr>
          <p:cNvPr id="61981967" name="Rechteck 12"/>
          <p:cNvSpPr/>
          <p:nvPr/>
        </p:nvSpPr>
        <p:spPr bwMode="gray">
          <a:xfrm>
            <a:off x="407986" y="1060449"/>
            <a:ext cx="11441112" cy="5313972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/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Arial"/>
        <a:cs typeface="Arial"/>
      </a:majorFont>
      <a:minorFont>
        <a:latin typeface="Segoe U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Props1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ONLYOFFICE/9.1.0.167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/>
  <cp:revision>11</cp:revision>
  <dcterms:created xsi:type="dcterms:W3CDTF">2024-05-08T11:14:55Z</dcterms:created>
  <dcterms:modified xsi:type="dcterms:W3CDTF">2026-01-28T02:35:23Z</dcterms:modified>
</cp:coreProperties>
</file>