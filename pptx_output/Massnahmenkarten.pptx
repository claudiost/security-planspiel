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Maßnahmenkarten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8F9FA"/>
                </a:solidFill>
              </a:defRPr>
            </a:pPr>
            <a:r>
              <a:t>Security-Planspiel MechTech</a:t>
            </a:r>
            <a:br/>
            <a:r>
              <a:t>10 Maßnahmen × 3 Level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737360"/>
          </a:xfrm>
          <a:prstGeom prst="rect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M1: IAM/PAM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8595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8F9FA"/>
                </a:solidFill>
              </a:defRPr>
            </a:pPr>
            <a:r>
              <a:t>Wer darf was im Unternehmen? Diese Maßnahme stellt sicher, dass nur berechtigte Personen Zugang zu sensiblen Systemen haben - wie ein digitaler Türsteher.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28016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F8F9FA"/>
                </a:solidFill>
              </a:defRPr>
            </a:pPr>
            <a:r>
              <a:t>Technischer Fokus: Zugriffskontrolle, privilegierte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" y="1920240"/>
            <a:ext cx="2834640" cy="47548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9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920240"/>
            <a:ext cx="2834640" cy="411480"/>
          </a:xfrm>
          <a:prstGeom prst="rect">
            <a:avLst/>
          </a:prstGeom>
          <a:solidFill>
            <a:srgbClr val="009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1947672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LEVEL 1 (BASIS)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" y="2377440"/>
            <a:ext cx="26883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43A40"/>
                </a:solidFill>
              </a:defRPr>
            </a:pPr>
            <a:r>
              <a:t>Grundschutz: Zentrale Benutzerverwaltung, Admins brauchen zwei Faktoren zum Einloggen.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" y="310896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100" b="1">
                <a:solidFill>
                  <a:srgbClr val="007AC2"/>
                </a:solidFill>
              </a:defRPr>
            </a:pPr>
            <a:r>
              <a:t>C +2  |  I +1  |  A +0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" y="361188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000">
                <a:solidFill>
                  <a:srgbClr val="343A40"/>
                </a:solidFill>
              </a:defRPr>
            </a:pPr>
            <a:r>
              <a:t>Init: 30k€  |  OPEX: 4k€/Welle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" y="4114800"/>
            <a:ext cx="26883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000" i="1">
                <a:solidFill>
                  <a:srgbClr val="343A40"/>
                </a:solidFill>
              </a:defRPr>
            </a:pPr>
            <a:r>
              <a:t>• Keine direkte Wirkung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" y="5303520"/>
            <a:ext cx="26883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3154680" y="1920240"/>
            <a:ext cx="2834640" cy="47548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154680" y="1920240"/>
            <a:ext cx="2834640" cy="41148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54680" y="1947672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LEVEL 2 (STANDARD)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27832" y="2377440"/>
            <a:ext cx="26883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43A40"/>
                </a:solidFill>
              </a:defRPr>
            </a:pPr>
            <a:r>
              <a:t>Besser: Spezielle Verwaltung für Admin-Konten, klare Rollen wer was darf.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27832" y="310896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100" b="1">
                <a:solidFill>
                  <a:srgbClr val="007AC2"/>
                </a:solidFill>
              </a:defRPr>
            </a:pPr>
            <a:r>
              <a:t>C +4  |  I +3  |  A +0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27832" y="361188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000">
                <a:solidFill>
                  <a:srgbClr val="343A40"/>
                </a:solidFill>
              </a:defRPr>
            </a:pPr>
            <a:r>
              <a:t>Init: 60k€  |  OPEX: 10k€/Welle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27832" y="4114800"/>
            <a:ext cx="26883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000" i="1">
                <a:solidFill>
                  <a:srgbClr val="343A40"/>
                </a:solidFill>
              </a:defRPr>
            </a:pPr>
            <a:r>
              <a:t>• Keine direkte Wirkung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27832" y="5303520"/>
            <a:ext cx="26883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6080760" y="1920240"/>
            <a:ext cx="2834640" cy="47548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C3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80760" y="1920240"/>
            <a:ext cx="2834640" cy="41148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80760" y="1947672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LEVEL 3 (ERWEITERT)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53912" y="2377440"/>
            <a:ext cx="26883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43A40"/>
                </a:solidFill>
              </a:defRPr>
            </a:pPr>
            <a:r>
              <a:t>Premium: Zugriff nur bei Bedarf, alle Admin-Aktionen werden aufgezeichnet.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53912" y="310896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100" b="1">
                <a:solidFill>
                  <a:srgbClr val="007AC2"/>
                </a:solidFill>
              </a:defRPr>
            </a:pPr>
            <a:r>
              <a:t>C +6  |  I +5  |  A +1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53912" y="361188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000">
                <a:solidFill>
                  <a:srgbClr val="343A40"/>
                </a:solidFill>
              </a:defRPr>
            </a:pPr>
            <a:r>
              <a:t>Init: 100k€  |  OPEX: 20k€/Welle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53912" y="4114800"/>
            <a:ext cx="26883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000" i="1">
                <a:solidFill>
                  <a:srgbClr val="343A40"/>
                </a:solidFill>
              </a:defRPr>
            </a:pPr>
            <a:r>
              <a:t>• Keine direkte Wirkung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53912" y="5303520"/>
            <a:ext cx="26883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i="1">
                <a:solidFill>
                  <a:srgbClr val="DC3545"/>
                </a:solidFill>
              </a:defRPr>
            </a:pPr>
            <a:r>
              <a:t>Benötigt: M2 min. L2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737360"/>
          </a:xfrm>
          <a:prstGeom prst="rect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M2: Logging &amp; SIEM/MDR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8595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8F9FA"/>
                </a:solidFill>
              </a:defRPr>
            </a:pPr>
            <a:r>
              <a:t>Wie ein Überwachungssystem für die IT: Alle wichtigen Ereignisse werden protokolliert und ausgewertet, um verdächtige Aktivitäten frühzeitig zu erkennen.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28016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F8F9FA"/>
                </a:solidFill>
              </a:defRPr>
            </a:pPr>
            <a:r>
              <a:t>Technischer Fokus: Sichtbarkeit schaffen, Angriffe erkennen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" y="1920240"/>
            <a:ext cx="2834640" cy="47548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9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920240"/>
            <a:ext cx="2834640" cy="411480"/>
          </a:xfrm>
          <a:prstGeom prst="rect">
            <a:avLst/>
          </a:prstGeom>
          <a:solidFill>
            <a:srgbClr val="009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1947672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LEVEL 1 (BASIS)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" y="2377440"/>
            <a:ext cx="26883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43A40"/>
                </a:solidFill>
              </a:defRPr>
            </a:pPr>
            <a:r>
              <a:t>Grundschutz: Protokolle werden gesammelt und 30 Tage aufbewahrt.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" y="310896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100" b="1">
                <a:solidFill>
                  <a:srgbClr val="007AC2"/>
                </a:solidFill>
              </a:defRPr>
            </a:pPr>
            <a:r>
              <a:t>C +1  |  I +3  |  A +0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" y="361188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000">
                <a:solidFill>
                  <a:srgbClr val="343A40"/>
                </a:solidFill>
              </a:defRPr>
            </a:pPr>
            <a:r>
              <a:t>Init: 20k€  |  OPEX: 2k€/Welle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" y="4114800"/>
            <a:ext cx="26883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000" i="1">
                <a:solidFill>
                  <a:srgbClr val="343A40"/>
                </a:solidFill>
              </a:defRPr>
            </a:pPr>
            <a:r>
              <a:t>• Keine direkte Wirkung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54680" y="1920240"/>
            <a:ext cx="2834640" cy="47548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154680" y="1920240"/>
            <a:ext cx="2834640" cy="41148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54680" y="1947672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LEVEL 2 (STANDARD)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27832" y="2377440"/>
            <a:ext cx="26883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43A40"/>
                </a:solidFill>
              </a:defRPr>
            </a:pPr>
            <a:r>
              <a:t>Besser: Automatische Alarme bei verdächtigen Mustern (z.B. viele fehlgeschlagene Logins).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27832" y="310896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100" b="1">
                <a:solidFill>
                  <a:srgbClr val="007AC2"/>
                </a:solidFill>
              </a:defRPr>
            </a:pPr>
            <a:r>
              <a:t>C +2  |  I +5  |  A +1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27832" y="361188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000">
                <a:solidFill>
                  <a:srgbClr val="343A40"/>
                </a:solidFill>
              </a:defRPr>
            </a:pPr>
            <a:r>
              <a:t>Init: 50k€  |  OPEX: 8k€/Welle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27832" y="4114800"/>
            <a:ext cx="26883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000" i="1">
                <a:solidFill>
                  <a:srgbClr val="343A40"/>
                </a:solidFill>
              </a:defRPr>
            </a:pPr>
            <a:r>
              <a:t>• Keine direkte Wirkung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80760" y="1920240"/>
            <a:ext cx="2834640" cy="47548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C3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0760" y="1920240"/>
            <a:ext cx="2834640" cy="41148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80760" y="1947672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LEVEL 3 (ERWEITERT)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53912" y="2377440"/>
            <a:ext cx="26883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43A40"/>
                </a:solidFill>
              </a:defRPr>
            </a:pPr>
            <a:r>
              <a:t>Premium: Externe Sicherheitsexperten überwachen rund um die Uhr.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53912" y="310896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100" b="1">
                <a:solidFill>
                  <a:srgbClr val="007AC2"/>
                </a:solidFill>
              </a:defRPr>
            </a:pPr>
            <a:r>
              <a:t>C +3  |  I +7  |  A +2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53912" y="361188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000">
                <a:solidFill>
                  <a:srgbClr val="343A40"/>
                </a:solidFill>
              </a:defRPr>
            </a:pPr>
            <a:r>
              <a:t>Init: 80k€  |  OPEX: 24k€/Welle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53912" y="4114800"/>
            <a:ext cx="26883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000" i="1">
                <a:solidFill>
                  <a:srgbClr val="343A40"/>
                </a:solidFill>
              </a:defRPr>
            </a:pPr>
            <a:r>
              <a:t>• Keine direkte Wirkung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737360"/>
          </a:xfrm>
          <a:prstGeom prst="rect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M3: EDR/XDR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8595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8F9FA"/>
                </a:solidFill>
              </a:defRPr>
            </a:pPr>
            <a:r>
              <a:t>Der Virenschutz für alle Computer im Unternehmen. Erkennt und stoppt Schadsoftware, bevor sie Schaden anrichten kann.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28016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F8F9FA"/>
                </a:solidFill>
              </a:defRPr>
            </a:pPr>
            <a:r>
              <a:t>Technischer Fokus: Schadsoftware auf Clients/Servern erkennen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" y="1920240"/>
            <a:ext cx="2834640" cy="47548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9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920240"/>
            <a:ext cx="2834640" cy="411480"/>
          </a:xfrm>
          <a:prstGeom prst="rect">
            <a:avLst/>
          </a:prstGeom>
          <a:solidFill>
            <a:srgbClr val="009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1947672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LEVEL 1 (BASIS)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" y="2377440"/>
            <a:ext cx="26883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43A40"/>
                </a:solidFill>
              </a:defRPr>
            </a:pPr>
            <a:r>
              <a:t>Grundschutz: Klassischer Virenscanner, der bekannte Schadsoftware erkennt.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" y="310896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100" b="1">
                <a:solidFill>
                  <a:srgbClr val="007AC2"/>
                </a:solidFill>
              </a:defRPr>
            </a:pPr>
            <a:r>
              <a:t>C +3  |  I +2  |  A +1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" y="361188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000">
                <a:solidFill>
                  <a:srgbClr val="343A40"/>
                </a:solidFill>
              </a:defRPr>
            </a:pPr>
            <a:r>
              <a:t>Init: 24k€  |  OPEX: 4k€/Welle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" y="4114800"/>
            <a:ext cx="26883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000" i="1">
                <a:solidFill>
                  <a:srgbClr val="343A40"/>
                </a:solidFill>
              </a:defRPr>
            </a:pPr>
            <a:r>
              <a:t>• Keine direkte Wirkung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" y="5303520"/>
            <a:ext cx="26883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3154680" y="1920240"/>
            <a:ext cx="2834640" cy="47548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154680" y="1920240"/>
            <a:ext cx="2834640" cy="41148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54680" y="1947672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LEVEL 2 (STANDARD)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27832" y="2377440"/>
            <a:ext cx="26883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43A40"/>
                </a:solidFill>
              </a:defRPr>
            </a:pPr>
            <a:r>
              <a:t>Besser: Erkennt auch unbekannte Bedrohungen anhand von verdächtigem Verhalten, isoliert befallene Rechner automatisch.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27832" y="310896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100" b="1">
                <a:solidFill>
                  <a:srgbClr val="007AC2"/>
                </a:solidFill>
              </a:defRPr>
            </a:pPr>
            <a:r>
              <a:t>C +5  |  I +4  |  A +2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27832" y="361188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000">
                <a:solidFill>
                  <a:srgbClr val="343A40"/>
                </a:solidFill>
              </a:defRPr>
            </a:pPr>
            <a:r>
              <a:t>Init: 56k€  |  OPEX: 10k€/Welle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27832" y="4114800"/>
            <a:ext cx="26883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000" i="1">
                <a:solidFill>
                  <a:srgbClr val="343A40"/>
                </a:solidFill>
              </a:defRPr>
            </a:pPr>
            <a:r>
              <a:t>• Keine direkte Wirkung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27832" y="5303520"/>
            <a:ext cx="26883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6080760" y="1920240"/>
            <a:ext cx="2834640" cy="47548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C3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80760" y="1920240"/>
            <a:ext cx="2834640" cy="41148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80760" y="1947672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LEVEL 3 (ERWEITERT)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53912" y="2377440"/>
            <a:ext cx="26883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43A40"/>
                </a:solidFill>
              </a:defRPr>
            </a:pPr>
            <a:r>
              <a:t>Premium: Vernetzt alle Sicherheitssysteme - erkennt komplexe Angriffe über mehrere Systeme hinweg.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53912" y="310896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100" b="1">
                <a:solidFill>
                  <a:srgbClr val="007AC2"/>
                </a:solidFill>
              </a:defRPr>
            </a:pPr>
            <a:r>
              <a:t>C +7  |  I +6  |  A +3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53912" y="361188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000">
                <a:solidFill>
                  <a:srgbClr val="343A40"/>
                </a:solidFill>
              </a:defRPr>
            </a:pPr>
            <a:r>
              <a:t>Init: 90k€  |  OPEX: 18k€/Welle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53912" y="4114800"/>
            <a:ext cx="26883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000" i="1">
                <a:solidFill>
                  <a:srgbClr val="343A40"/>
                </a:solidFill>
              </a:defRPr>
            </a:pPr>
            <a:r>
              <a:t>• Keine direkte Wirkung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53912" y="5303520"/>
            <a:ext cx="26883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i="1">
                <a:solidFill>
                  <a:srgbClr val="DC3545"/>
                </a:solidFill>
              </a:defRPr>
            </a:pPr>
            <a:r>
              <a:t>Benötigt: M2 min. L2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737360"/>
          </a:xfrm>
          <a:prstGeom prst="rect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M4: Backup &amp; Disaster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8595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8F9FA"/>
                </a:solidFill>
              </a:defRPr>
            </a:pPr>
            <a:r>
              <a:t>Die Lebensversicherung für Unternehmensdaten. Regelmäßige Sicherungskopien ermöglichen es, nach einem Angriff oder Ausfall schnell wieder arbeitsfähig zu sein.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28016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F8F9FA"/>
                </a:solidFill>
              </a:defRPr>
            </a:pPr>
            <a:r>
              <a:t>Technischer Fokus: Daten wiederherstellen, Betrieb aufrechterhalten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" y="1920240"/>
            <a:ext cx="2834640" cy="47548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9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920240"/>
            <a:ext cx="2834640" cy="411480"/>
          </a:xfrm>
          <a:prstGeom prst="rect">
            <a:avLst/>
          </a:prstGeom>
          <a:solidFill>
            <a:srgbClr val="009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1947672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LEVEL 1 (BASIS)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" y="2377440"/>
            <a:ext cx="26883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43A40"/>
                </a:solidFill>
              </a:defRPr>
            </a:pPr>
            <a:r>
              <a:t>Grundschutz: Tägliche Datensicherung, aber ohne regelmäßige Tests ob die Wiederherstellung funktioniert.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" y="310896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100" b="1">
                <a:solidFill>
                  <a:srgbClr val="007AC2"/>
                </a:solidFill>
              </a:defRPr>
            </a:pPr>
            <a:r>
              <a:t>C +0  |  I +4  |  A +3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" y="361188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000">
                <a:solidFill>
                  <a:srgbClr val="343A40"/>
                </a:solidFill>
              </a:defRPr>
            </a:pPr>
            <a:r>
              <a:t>Init: 16k€  |  OPEX: 6k€/Welle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" y="4114800"/>
            <a:ext cx="26883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000" i="1">
                <a:solidFill>
                  <a:srgbClr val="343A40"/>
                </a:solidFill>
              </a:defRPr>
            </a:pPr>
            <a:r>
              <a:t>• Keine direkte Wirkung</a:t>
            </a:r>
          </a:p>
          <a:p>
            <a:pPr>
              <a:defRPr sz="1000" b="1">
                <a:solidFill>
                  <a:srgbClr val="FF9900"/>
                </a:solidFill>
              </a:defRPr>
            </a:pPr>
            <a:r>
              <a:t>• Recovery: 10%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54680" y="1920240"/>
            <a:ext cx="2834640" cy="47548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154680" y="1920240"/>
            <a:ext cx="2834640" cy="41148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54680" y="1947672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LEVEL 2 (STANDARD)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27832" y="2377440"/>
            <a:ext cx="26883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43A40"/>
                </a:solidFill>
              </a:defRPr>
            </a:pPr>
            <a:r>
              <a:t>Besser: Backups an mehreren Orten, monatlich wird geprüft ob Wiederherstellung klappt.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27832" y="310896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100" b="1">
                <a:solidFill>
                  <a:srgbClr val="007AC2"/>
                </a:solidFill>
              </a:defRPr>
            </a:pPr>
            <a:r>
              <a:t>C +1  |  I +6  |  A +5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27832" y="361188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000">
                <a:solidFill>
                  <a:srgbClr val="343A40"/>
                </a:solidFill>
              </a:defRPr>
            </a:pPr>
            <a:r>
              <a:t>Init: 40k€  |  OPEX: 12k€/Welle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27832" y="4114800"/>
            <a:ext cx="26883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000" i="1">
                <a:solidFill>
                  <a:srgbClr val="343A40"/>
                </a:solidFill>
              </a:defRPr>
            </a:pPr>
            <a:r>
              <a:t>• Keine direkte Wirkung</a:t>
            </a:r>
          </a:p>
          <a:p>
            <a:pPr>
              <a:defRPr sz="1000" b="1">
                <a:solidFill>
                  <a:srgbClr val="FF9900"/>
                </a:solidFill>
              </a:defRPr>
            </a:pPr>
            <a:r>
              <a:t>• Recovery: 30%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80760" y="1920240"/>
            <a:ext cx="2834640" cy="47548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C3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0760" y="1920240"/>
            <a:ext cx="2834640" cy="41148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80760" y="1947672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LEVEL 3 (ERWEITERT)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53912" y="2377440"/>
            <a:ext cx="26883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43A40"/>
                </a:solidFill>
              </a:defRPr>
            </a:pPr>
            <a:r>
              <a:t>Premium: Backups sind unveränderbar und vom Netzwerk getrennt - selbst Hacker können sie nicht löschen. Schnelle Wiederherstellung garantiert.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53912" y="310896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100" b="1">
                <a:solidFill>
                  <a:srgbClr val="007AC2"/>
                </a:solidFill>
              </a:defRPr>
            </a:pPr>
            <a:r>
              <a:t>C +1  |  I +8  |  A +7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53912" y="361188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000">
                <a:solidFill>
                  <a:srgbClr val="343A40"/>
                </a:solidFill>
              </a:defRPr>
            </a:pPr>
            <a:r>
              <a:t>Init: 80k€  |  OPEX: 20k€/Welle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53912" y="4114800"/>
            <a:ext cx="26883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000" i="1">
                <a:solidFill>
                  <a:srgbClr val="343A40"/>
                </a:solidFill>
              </a:defRPr>
            </a:pPr>
            <a:r>
              <a:t>• Keine direkte Wirkung</a:t>
            </a:r>
          </a:p>
          <a:p>
            <a:pPr>
              <a:defRPr sz="1000" b="1">
                <a:solidFill>
                  <a:srgbClr val="FF9900"/>
                </a:solidFill>
              </a:defRPr>
            </a:pPr>
            <a:r>
              <a:t>• Recovery: 50%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737360"/>
          </a:xfrm>
          <a:prstGeom prst="rect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M5: OT/IT-Netz-Segmentierung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8595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8F9FA"/>
                </a:solidFill>
              </a:defRPr>
            </a:pPr>
            <a:r>
              <a:t>Baut digitale Brandmauern zwischen Büro und Produktion. Ein Angriff im Büro soll nicht die Fertigungsanlagen lahmlegen können.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28016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F8F9FA"/>
                </a:solidFill>
              </a:defRPr>
            </a:pPr>
            <a:r>
              <a:t>Technischer Fokus: Produktionsnetz vom Office-Netz trennen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" y="1920240"/>
            <a:ext cx="2834640" cy="47548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9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920240"/>
            <a:ext cx="2834640" cy="411480"/>
          </a:xfrm>
          <a:prstGeom prst="rect">
            <a:avLst/>
          </a:prstGeom>
          <a:solidFill>
            <a:srgbClr val="009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1947672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LEVEL 1 (BASIS)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" y="2377440"/>
            <a:ext cx="26883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43A40"/>
                </a:solidFill>
              </a:defRPr>
            </a:pPr>
            <a:r>
              <a:t>Grundschutz: Netzwerke sind logisch getrennt, aber ohne strenge Zugangskontrollen.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" y="310896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100" b="1">
                <a:solidFill>
                  <a:srgbClr val="007AC2"/>
                </a:solidFill>
              </a:defRPr>
            </a:pPr>
            <a:r>
              <a:t>C +2  |  I +1  |  A +4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" y="361188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000">
                <a:solidFill>
                  <a:srgbClr val="343A40"/>
                </a:solidFill>
              </a:defRPr>
            </a:pPr>
            <a:r>
              <a:t>Init: 40k€  |  OPEX: 2k€/Welle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" y="4114800"/>
            <a:ext cx="26883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000" i="1">
                <a:solidFill>
                  <a:srgbClr val="343A40"/>
                </a:solidFill>
              </a:defRPr>
            </a:pPr>
            <a:r>
              <a:t>• Keine direkte Wirkung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54680" y="1920240"/>
            <a:ext cx="2834640" cy="47548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154680" y="1920240"/>
            <a:ext cx="2834640" cy="41148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54680" y="1947672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LEVEL 2 (STANDARD)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27832" y="2377440"/>
            <a:ext cx="26883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43A40"/>
                </a:solidFill>
              </a:defRPr>
            </a:pPr>
            <a:r>
              <a:t>Besser: Echte Firewall zwischen Büro und Produktion - nur explizit erlaubter Datenverkehr kommt durch.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27832" y="310896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100" b="1">
                <a:solidFill>
                  <a:srgbClr val="007AC2"/>
                </a:solidFill>
              </a:defRPr>
            </a:pPr>
            <a:r>
              <a:t>C +3  |  I +2  |  A +6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27832" y="361188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000">
                <a:solidFill>
                  <a:srgbClr val="343A40"/>
                </a:solidFill>
              </a:defRPr>
            </a:pPr>
            <a:r>
              <a:t>Init: 70k€  |  OPEX: 6k€/Welle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27832" y="4114800"/>
            <a:ext cx="26883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000" i="1">
                <a:solidFill>
                  <a:srgbClr val="343A40"/>
                </a:solidFill>
              </a:defRPr>
            </a:pPr>
            <a:r>
              <a:t>• Keine direkte Wirkung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80760" y="1920240"/>
            <a:ext cx="2834640" cy="47548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C3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0760" y="1920240"/>
            <a:ext cx="2834640" cy="41148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80760" y="1947672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LEVEL 3 (ERWEITERT)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53912" y="2377440"/>
            <a:ext cx="26883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43A40"/>
                </a:solidFill>
              </a:defRPr>
            </a:pPr>
            <a:r>
              <a:t>Premium: Jede Produktionslinie ist einzeln abgesichert, verdächtiger Datenverkehr wird automatisch blockiert.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53912" y="310896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100" b="1">
                <a:solidFill>
                  <a:srgbClr val="007AC2"/>
                </a:solidFill>
              </a:defRPr>
            </a:pPr>
            <a:r>
              <a:t>C +4  |  I +3  |  A +8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53912" y="361188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000">
                <a:solidFill>
                  <a:srgbClr val="343A40"/>
                </a:solidFill>
              </a:defRPr>
            </a:pPr>
            <a:r>
              <a:t>Init: 110k€  |  OPEX: 12k€/Welle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53912" y="4114800"/>
            <a:ext cx="26883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000" i="1">
                <a:solidFill>
                  <a:srgbClr val="343A40"/>
                </a:solidFill>
              </a:defRPr>
            </a:pPr>
            <a:r>
              <a:t>• Keine direkte Wirkung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737360"/>
          </a:xfrm>
          <a:prstGeom prst="rect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M6: Security Awareness &amp; 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8595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8F9FA"/>
                </a:solidFill>
              </a:defRPr>
            </a:pPr>
            <a:r>
              <a:t>Macht Mitarbeiter zur ersten Verteidigungslinie. Geschulte Mitarbeiter erkennen Betrugsversuche und gefährliche E-Mails, bevor Schaden entsteht.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28016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F8F9FA"/>
                </a:solidFill>
              </a:defRPr>
            </a:pPr>
            <a:r>
              <a:t>Technischer Fokus: Mitarbeitende sensibilisieren, Phishing abwehren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" y="1920240"/>
            <a:ext cx="2834640" cy="47548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9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920240"/>
            <a:ext cx="2834640" cy="411480"/>
          </a:xfrm>
          <a:prstGeom prst="rect">
            <a:avLst/>
          </a:prstGeom>
          <a:solidFill>
            <a:srgbClr val="009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1947672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LEVEL 1 (BASIS)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" y="2377440"/>
            <a:ext cx="26883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43A40"/>
                </a:solidFill>
              </a:defRPr>
            </a:pPr>
            <a:r>
              <a:t>Grundschutz: Einmal im Jahr eine kurze Online-Schulung zum Thema IT-Sicherheit.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" y="310896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100" b="1">
                <a:solidFill>
                  <a:srgbClr val="007AC2"/>
                </a:solidFill>
              </a:defRPr>
            </a:pPr>
            <a:r>
              <a:t>C +2  |  I +1  |  A +1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" y="361188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000">
                <a:solidFill>
                  <a:srgbClr val="343A40"/>
                </a:solidFill>
              </a:defRPr>
            </a:pPr>
            <a:r>
              <a:t>Init: 10k€  |  OPEX: 2k€/Welle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" y="4114800"/>
            <a:ext cx="26883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000" i="1">
                <a:solidFill>
                  <a:srgbClr val="343A40"/>
                </a:solidFill>
              </a:defRPr>
            </a:pPr>
            <a:r>
              <a:t>• Keine direkte Wirkung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54680" y="1920240"/>
            <a:ext cx="2834640" cy="47548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154680" y="1920240"/>
            <a:ext cx="2834640" cy="41148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54680" y="1947672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LEVEL 2 (STANDARD)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27832" y="2377440"/>
            <a:ext cx="26883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43A40"/>
                </a:solidFill>
              </a:defRPr>
            </a:pPr>
            <a:r>
              <a:t>Besser: Regelmäßige Schulungen plus Test-Phishing-Mails, um die Wachsamkeit zu prüfen.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27832" y="310896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100" b="1">
                <a:solidFill>
                  <a:srgbClr val="007AC2"/>
                </a:solidFill>
              </a:defRPr>
            </a:pPr>
            <a:r>
              <a:t>C +3  |  I +2  |  A +2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27832" y="361188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000">
                <a:solidFill>
                  <a:srgbClr val="343A40"/>
                </a:solidFill>
              </a:defRPr>
            </a:pPr>
            <a:r>
              <a:t>Init: 24k€  |  OPEX: 6k€/Welle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27832" y="4114800"/>
            <a:ext cx="26883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000" i="1">
                <a:solidFill>
                  <a:srgbClr val="343A40"/>
                </a:solidFill>
              </a:defRPr>
            </a:pPr>
            <a:r>
              <a:t>• Keine direkte Wirkung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80760" y="1920240"/>
            <a:ext cx="2834640" cy="47548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C3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0760" y="1920240"/>
            <a:ext cx="2834640" cy="41148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80760" y="1947672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LEVEL 3 (ERWEITERT)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53912" y="2377440"/>
            <a:ext cx="26883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43A40"/>
                </a:solidFill>
              </a:defRPr>
            </a:pPr>
            <a:r>
              <a:t>Premium: Spezielle Trainings je nach Rolle, klarer Prozess zum Melden von Verdachtsfällen.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53912" y="310896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100" b="1">
                <a:solidFill>
                  <a:srgbClr val="007AC2"/>
                </a:solidFill>
              </a:defRPr>
            </a:pPr>
            <a:r>
              <a:t>C +5  |  I +3  |  A +3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53912" y="361188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000">
                <a:solidFill>
                  <a:srgbClr val="343A40"/>
                </a:solidFill>
              </a:defRPr>
            </a:pPr>
            <a:r>
              <a:t>Init: 40k€  |  OPEX: 10k€/Welle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53912" y="4114800"/>
            <a:ext cx="26883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000" i="1">
                <a:solidFill>
                  <a:srgbClr val="343A40"/>
                </a:solidFill>
              </a:defRPr>
            </a:pPr>
            <a:r>
              <a:t>• Keine direkte Wirkung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737360"/>
          </a:xfrm>
          <a:prstGeom prst="rect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M7: Vulnerability &amp; Patch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8595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8F9FA"/>
                </a:solidFill>
              </a:defRPr>
            </a:pPr>
            <a:r>
              <a:t>Hält alle Systeme auf dem neuesten Stand. Sicherheitslücken werden durch Updates geschlossen, bevor Angreifer sie ausnutzen können.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28016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F8F9FA"/>
                </a:solidFill>
              </a:defRPr>
            </a:pPr>
            <a:r>
              <a:t>Technischer Fokus: Schwachstellen schließen, Angriffsfläche reduzieren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" y="1920240"/>
            <a:ext cx="2834640" cy="47548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9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920240"/>
            <a:ext cx="2834640" cy="411480"/>
          </a:xfrm>
          <a:prstGeom prst="rect">
            <a:avLst/>
          </a:prstGeom>
          <a:solidFill>
            <a:srgbClr val="009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1947672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LEVEL 1 (BASIS)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" y="2377440"/>
            <a:ext cx="26883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43A40"/>
                </a:solidFill>
              </a:defRPr>
            </a:pPr>
            <a:r>
              <a:t>Grundschutz: Windows-Updates laufen automatisch, Produktionssysteme werden unregelmäßig aktualisiert.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" y="310896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100" b="1">
                <a:solidFill>
                  <a:srgbClr val="007AC2"/>
                </a:solidFill>
              </a:defRPr>
            </a:pPr>
            <a:r>
              <a:t>C +2  |  I +3  |  A +2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" y="361188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000">
                <a:solidFill>
                  <a:srgbClr val="343A40"/>
                </a:solidFill>
              </a:defRPr>
            </a:pPr>
            <a:r>
              <a:t>Init: 20k€  |  OPEX: 4k€/Welle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" y="4114800"/>
            <a:ext cx="26883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000" i="1">
                <a:solidFill>
                  <a:srgbClr val="343A40"/>
                </a:solidFill>
              </a:defRPr>
            </a:pPr>
            <a:r>
              <a:t>• Keine direkte Wirkung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" y="5303520"/>
            <a:ext cx="26883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3154680" y="1920240"/>
            <a:ext cx="2834640" cy="47548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154680" y="1920240"/>
            <a:ext cx="2834640" cy="41148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54680" y="1947672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LEVEL 2 (STANDARD)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27832" y="2377440"/>
            <a:ext cx="26883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43A40"/>
                </a:solidFill>
              </a:defRPr>
            </a:pPr>
            <a:r>
              <a:t>Besser: Strukturierter monatlicher Update-Prozess, regelmäßige Suche nach Schwachstellen.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27832" y="310896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100" b="1">
                <a:solidFill>
                  <a:srgbClr val="007AC2"/>
                </a:solidFill>
              </a:defRPr>
            </a:pPr>
            <a:r>
              <a:t>C +4  |  I +5  |  A +3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27832" y="361188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000">
                <a:solidFill>
                  <a:srgbClr val="343A40"/>
                </a:solidFill>
              </a:defRPr>
            </a:pPr>
            <a:r>
              <a:t>Init: 44k€  |  OPEX: 8k€/Welle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27832" y="4114800"/>
            <a:ext cx="26883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000" i="1">
                <a:solidFill>
                  <a:srgbClr val="343A40"/>
                </a:solidFill>
              </a:defRPr>
            </a:pPr>
            <a:r>
              <a:t>• Keine direkte Wirkung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27832" y="5303520"/>
            <a:ext cx="26883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6080760" y="1920240"/>
            <a:ext cx="2834640" cy="47548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C3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80760" y="1920240"/>
            <a:ext cx="2834640" cy="41148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80760" y="1947672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LEVEL 3 (ERWEITERT)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53912" y="2377440"/>
            <a:ext cx="26883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43A40"/>
                </a:solidFill>
              </a:defRPr>
            </a:pPr>
            <a:r>
              <a:t>Premium: Kritische Lücken werden priorisiert geschlossen, wöchentliche automatische Schwachstellen-Scans.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53912" y="310896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100" b="1">
                <a:solidFill>
                  <a:srgbClr val="007AC2"/>
                </a:solidFill>
              </a:defRPr>
            </a:pPr>
            <a:r>
              <a:t>C +6  |  I +7  |  A +4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53912" y="361188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000">
                <a:solidFill>
                  <a:srgbClr val="343A40"/>
                </a:solidFill>
              </a:defRPr>
            </a:pPr>
            <a:r>
              <a:t>Init: 76k€  |  OPEX: 14k€/Welle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53912" y="4114800"/>
            <a:ext cx="26883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000" i="1">
                <a:solidFill>
                  <a:srgbClr val="343A40"/>
                </a:solidFill>
              </a:defRPr>
            </a:pPr>
            <a:r>
              <a:t>• Keine direkte Wirkung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53912" y="5303520"/>
            <a:ext cx="26883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i="1">
                <a:solidFill>
                  <a:srgbClr val="DC3545"/>
                </a:solidFill>
              </a:defRPr>
            </a:pPr>
            <a:r>
              <a:t>Benötigt: M2 min. L1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737360"/>
          </a:xfrm>
          <a:prstGeom prst="rect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M8: Supplier Security &amp; Supply 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8595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8F9FA"/>
                </a:solidFill>
              </a:defRPr>
            </a:pPr>
            <a:r>
              <a:t>Schützt vor Risiken durch Geschäftspartner. Denn auch über einen gehackten Lieferanten können Angreifer ins Unternehmen gelangen.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28016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F8F9FA"/>
                </a:solidFill>
              </a:defRPr>
            </a:pPr>
            <a:r>
              <a:t>Technischer Fokus: Lieferanten-Risiken managen, Abhängigkeiten absichern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" y="1920240"/>
            <a:ext cx="2834640" cy="47548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9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920240"/>
            <a:ext cx="2834640" cy="411480"/>
          </a:xfrm>
          <a:prstGeom prst="rect">
            <a:avLst/>
          </a:prstGeom>
          <a:solidFill>
            <a:srgbClr val="009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1947672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LEVEL 1 (BASIS)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" y="2377440"/>
            <a:ext cx="26883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43A40"/>
                </a:solidFill>
              </a:defRPr>
            </a:pPr>
            <a:r>
              <a:t>Grundschutz: Sicherheitsanforderungen stehen im Vertrag, gelegentliche Überprüfungen.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" y="310896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100" b="1">
                <a:solidFill>
                  <a:srgbClr val="007AC2"/>
                </a:solidFill>
              </a:defRPr>
            </a:pPr>
            <a:r>
              <a:t>C +1  |  I +2  |  A +2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" y="361188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000">
                <a:solidFill>
                  <a:srgbClr val="343A40"/>
                </a:solidFill>
              </a:defRPr>
            </a:pPr>
            <a:r>
              <a:t>Init: 16k€  |  OPEX: 4k€/Welle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" y="4114800"/>
            <a:ext cx="26883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000" i="1">
                <a:solidFill>
                  <a:srgbClr val="343A40"/>
                </a:solidFill>
              </a:defRPr>
            </a:pPr>
            <a:r>
              <a:t>• Keine direkte Wirkung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54680" y="1920240"/>
            <a:ext cx="2834640" cy="47548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154680" y="1920240"/>
            <a:ext cx="2834640" cy="41148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54680" y="1947672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LEVEL 2 (STANDARD)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27832" y="2377440"/>
            <a:ext cx="26883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43A40"/>
                </a:solidFill>
              </a:defRPr>
            </a:pPr>
            <a:r>
              <a:t>Besser: Jährliche Sicherheitsbewertung aller wichtigen Lieferanten, Überwachung der Leistungsversprechen.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27832" y="310896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100" b="1">
                <a:solidFill>
                  <a:srgbClr val="007AC2"/>
                </a:solidFill>
              </a:defRPr>
            </a:pPr>
            <a:r>
              <a:t>C +2  |  I +4  |  A +4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27832" y="361188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000">
                <a:solidFill>
                  <a:srgbClr val="343A40"/>
                </a:solidFill>
              </a:defRPr>
            </a:pPr>
            <a:r>
              <a:t>Init: 36k€  |  OPEX: 8k€/Welle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27832" y="4114800"/>
            <a:ext cx="26883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000" i="1">
                <a:solidFill>
                  <a:srgbClr val="343A40"/>
                </a:solidFill>
              </a:defRPr>
            </a:pPr>
            <a:r>
              <a:t>• Keine direkte Wirkung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80760" y="1920240"/>
            <a:ext cx="2834640" cy="47548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C3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0760" y="1920240"/>
            <a:ext cx="2834640" cy="41148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80760" y="1947672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LEVEL 3 (ERWEITERT)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53912" y="2377440"/>
            <a:ext cx="26883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43A40"/>
                </a:solidFill>
              </a:defRPr>
            </a:pPr>
            <a:r>
              <a:t>Premium: Kontinuierliche Überwachung, Backup-Lieferanten für kritische Teile, Schutz bei Lieferanten-Insolvenz.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53912" y="310896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100" b="1">
                <a:solidFill>
                  <a:srgbClr val="007AC2"/>
                </a:solidFill>
              </a:defRPr>
            </a:pPr>
            <a:r>
              <a:t>C +3  |  I +6  |  A +6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53912" y="361188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000">
                <a:solidFill>
                  <a:srgbClr val="343A40"/>
                </a:solidFill>
              </a:defRPr>
            </a:pPr>
            <a:r>
              <a:t>Init: 70k€  |  OPEX: 16k€/Welle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53912" y="4114800"/>
            <a:ext cx="26883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000" i="1">
                <a:solidFill>
                  <a:srgbClr val="343A40"/>
                </a:solidFill>
              </a:defRPr>
            </a:pPr>
            <a:r>
              <a:t>• Keine direkte Wirkung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737360"/>
          </a:xfrm>
          <a:prstGeom prst="rect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M9: Cloud Security (CSPM)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8595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8F9FA"/>
                </a:solidFill>
              </a:defRPr>
            </a:pPr>
            <a:r>
              <a:t>Sichert Daten und Dienste in der Cloud ab. Prüft automatisch, ob Cloud-Systeme sicher konfiguriert sind.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28016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F8F9FA"/>
                </a:solidFill>
              </a:defRPr>
            </a:pPr>
            <a:r>
              <a:t>Technischer Fokus: Cloud-Konfigurationen überwachen &amp; absichern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" y="1920240"/>
            <a:ext cx="2834640" cy="47548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9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920240"/>
            <a:ext cx="2834640" cy="411480"/>
          </a:xfrm>
          <a:prstGeom prst="rect">
            <a:avLst/>
          </a:prstGeom>
          <a:solidFill>
            <a:srgbClr val="009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1947672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LEVEL 1 (BASIS)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" y="2377440"/>
            <a:ext cx="26883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43A40"/>
                </a:solidFill>
              </a:defRPr>
            </a:pPr>
            <a:r>
              <a:t>Grundschutz: Einfache Überwachung der Cloud-Backups.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" y="310896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100" b="1">
                <a:solidFill>
                  <a:srgbClr val="007AC2"/>
                </a:solidFill>
              </a:defRPr>
            </a:pPr>
            <a:r>
              <a:t>C +2  |  I +2  |  A +1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" y="361188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000">
                <a:solidFill>
                  <a:srgbClr val="343A40"/>
                </a:solidFill>
              </a:defRPr>
            </a:pPr>
            <a:r>
              <a:t>Init: 18k€  |  OPEX: 3k€/Welle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" y="4114800"/>
            <a:ext cx="26883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000" i="1">
                <a:solidFill>
                  <a:srgbClr val="343A40"/>
                </a:solidFill>
              </a:defRPr>
            </a:pPr>
            <a:r>
              <a:t>• Keine direkte Wirkung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54680" y="1920240"/>
            <a:ext cx="2834640" cy="47548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154680" y="1920240"/>
            <a:ext cx="2834640" cy="41148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54680" y="1947672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LEVEL 2 (STANDARD)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27832" y="2377440"/>
            <a:ext cx="26883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43A40"/>
                </a:solidFill>
              </a:defRPr>
            </a:pPr>
            <a:r>
              <a:t>Besser: Automatische Prüfung ob Cloud-Einstellungen den Sicherheitsrichtlinien entsprechen.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27832" y="310896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100" b="1">
                <a:solidFill>
                  <a:srgbClr val="007AC2"/>
                </a:solidFill>
              </a:defRPr>
            </a:pPr>
            <a:r>
              <a:t>C +3  |  I +3  |  A +2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27832" y="361188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000">
                <a:solidFill>
                  <a:srgbClr val="343A40"/>
                </a:solidFill>
              </a:defRPr>
            </a:pPr>
            <a:r>
              <a:t>Init: 40k€  |  OPEX: 7k€/Welle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27832" y="4114800"/>
            <a:ext cx="26883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000" i="1">
                <a:solidFill>
                  <a:srgbClr val="343A40"/>
                </a:solidFill>
              </a:defRPr>
            </a:pPr>
            <a:r>
              <a:t>• Keine direkte Wirkung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80760" y="1920240"/>
            <a:ext cx="2834640" cy="47548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C3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0760" y="1920240"/>
            <a:ext cx="2834640" cy="41148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80760" y="1947672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LEVEL 3 (ERWEITERT)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53912" y="2377440"/>
            <a:ext cx="26883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43A40"/>
                </a:solidFill>
              </a:defRPr>
            </a:pPr>
            <a:r>
              <a:t>Premium: Umfassende Sicherheit über mehrere Cloud-Anbieter, automatische Prüfung aller Cloud-Konfigurationen.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53912" y="310896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100" b="1">
                <a:solidFill>
                  <a:srgbClr val="007AC2"/>
                </a:solidFill>
              </a:defRPr>
            </a:pPr>
            <a:r>
              <a:t>C +4  |  I +4  |  A +3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53912" y="361188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000">
                <a:solidFill>
                  <a:srgbClr val="343A40"/>
                </a:solidFill>
              </a:defRPr>
            </a:pPr>
            <a:r>
              <a:t>Init: 70k€  |  OPEX: 14k€/Welle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53912" y="4114800"/>
            <a:ext cx="26883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000" i="1">
                <a:solidFill>
                  <a:srgbClr val="343A40"/>
                </a:solidFill>
              </a:defRPr>
            </a:pPr>
            <a:r>
              <a:t>• Keine direkte Wirkung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737360"/>
          </a:xfrm>
          <a:prstGeom prst="rect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M10: Mobile Device Management (MDM)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8595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8F9FA"/>
                </a:solidFill>
              </a:defRPr>
            </a:pPr>
            <a:r>
              <a:t>Schützt mobile Geräte der Mitarbeiter. Verhindert Datenverlust bei Diebstahl und kontrolliert welche Apps genutzt werden dürfen.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28016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F8F9FA"/>
                </a:solidFill>
              </a:defRPr>
            </a:pPr>
            <a:r>
              <a:t>Technischer Fokus: Smartphones/Tablets absichern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" y="1920240"/>
            <a:ext cx="2834640" cy="47548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9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920240"/>
            <a:ext cx="2834640" cy="411480"/>
          </a:xfrm>
          <a:prstGeom prst="rect">
            <a:avLst/>
          </a:prstGeom>
          <a:solidFill>
            <a:srgbClr val="009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1947672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LEVEL 1 (BASIS)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" y="2377440"/>
            <a:ext cx="26883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43A40"/>
                </a:solidFill>
              </a:defRPr>
            </a:pPr>
            <a:r>
              <a:t>Grundschutz: PIN-Schutz Pflicht, bei Verlust kann das Gerät aus der Ferne gelöscht werden.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" y="310896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100" b="1">
                <a:solidFill>
                  <a:srgbClr val="007AC2"/>
                </a:solidFill>
              </a:defRPr>
            </a:pPr>
            <a:r>
              <a:t>C +1  |  I +1  |  A +0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" y="361188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000">
                <a:solidFill>
                  <a:srgbClr val="343A40"/>
                </a:solidFill>
              </a:defRPr>
            </a:pPr>
            <a:r>
              <a:t>Init: 12k€  |  OPEX: 2k€/Welle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" y="4114800"/>
            <a:ext cx="26883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000" i="1">
                <a:solidFill>
                  <a:srgbClr val="343A40"/>
                </a:solidFill>
              </a:defRPr>
            </a:pPr>
            <a:r>
              <a:t>• Keine direkte Wirkung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54680" y="1920240"/>
            <a:ext cx="2834640" cy="47548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154680" y="1920240"/>
            <a:ext cx="2834640" cy="41148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54680" y="1947672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LEVEL 2 (STANDARD)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27832" y="2377440"/>
            <a:ext cx="26883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43A40"/>
                </a:solidFill>
              </a:defRPr>
            </a:pPr>
            <a:r>
              <a:t>Besser: Zentrale Verwaltung aller Mobilgeräte, nur zugelassene Apps können installiert werden.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27832" y="310896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100" b="1">
                <a:solidFill>
                  <a:srgbClr val="007AC2"/>
                </a:solidFill>
              </a:defRPr>
            </a:pPr>
            <a:r>
              <a:t>C +2  |  I +2  |  A +1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27832" y="361188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000">
                <a:solidFill>
                  <a:srgbClr val="343A40"/>
                </a:solidFill>
              </a:defRPr>
            </a:pPr>
            <a:r>
              <a:t>Init: 28k€  |  OPEX: 5k€/Welle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27832" y="4114800"/>
            <a:ext cx="26883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000" i="1">
                <a:solidFill>
                  <a:srgbClr val="343A40"/>
                </a:solidFill>
              </a:defRPr>
            </a:pPr>
            <a:r>
              <a:t>• Keine direkte Wirkung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80760" y="1920240"/>
            <a:ext cx="2834640" cy="47548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C3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0760" y="1920240"/>
            <a:ext cx="2834640" cy="41148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80760" y="1947672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LEVEL 3 (ERWEITERT)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53912" y="2377440"/>
            <a:ext cx="26883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43A40"/>
                </a:solidFill>
              </a:defRPr>
            </a:pPr>
            <a:r>
              <a:t>Premium: Einheitliche Verwaltung aller Endgeräte, aktiver Schutz vor mobilen Bedrohungen.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53912" y="310896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100" b="1">
                <a:solidFill>
                  <a:srgbClr val="007AC2"/>
                </a:solidFill>
              </a:defRPr>
            </a:pPr>
            <a:r>
              <a:t>C +3  |  I +3  |  A +2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53912" y="361188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000">
                <a:solidFill>
                  <a:srgbClr val="343A40"/>
                </a:solidFill>
              </a:defRPr>
            </a:pPr>
            <a:r>
              <a:t>Init: 50k€  |  OPEX: 10k€/Welle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53912" y="4114800"/>
            <a:ext cx="26883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000" i="1">
                <a:solidFill>
                  <a:srgbClr val="343A40"/>
                </a:solidFill>
              </a:defRPr>
            </a:pPr>
            <a:r>
              <a:t>• Keine direkte Wirkung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